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8" r:id="rId18"/>
    <p:sldId id="27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6FF408-D309-40C1-AC4A-2F5ED7173C6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8277F77-317D-4B63-A5A0-9042B829D08F}">
      <dgm:prSet/>
      <dgm:spPr/>
      <dgm:t>
        <a:bodyPr/>
        <a:lstStyle/>
        <a:p>
          <a:r>
            <a:rPr lang="en-US" b="1"/>
            <a:t>What is our modeling approach?</a:t>
          </a:r>
          <a:endParaRPr lang="en-US"/>
        </a:p>
      </dgm:t>
    </dgm:pt>
    <dgm:pt modelId="{3D74A26D-D528-4C0B-8720-E0600759634D}" type="parTrans" cxnId="{C2504B0E-5747-4227-AC41-C6317A9D5598}">
      <dgm:prSet/>
      <dgm:spPr/>
      <dgm:t>
        <a:bodyPr/>
        <a:lstStyle/>
        <a:p>
          <a:endParaRPr lang="en-US"/>
        </a:p>
      </dgm:t>
    </dgm:pt>
    <dgm:pt modelId="{C4337C63-9A64-403C-B79B-F9A3D7219F9E}" type="sibTrans" cxnId="{C2504B0E-5747-4227-AC41-C6317A9D5598}">
      <dgm:prSet/>
      <dgm:spPr/>
      <dgm:t>
        <a:bodyPr/>
        <a:lstStyle/>
        <a:p>
          <a:endParaRPr lang="en-US"/>
        </a:p>
      </dgm:t>
    </dgm:pt>
    <dgm:pt modelId="{DE5CC7E8-F1CB-4165-A45F-E06E63150B14}">
      <dgm:prSet/>
      <dgm:spPr/>
      <dgm:t>
        <a:bodyPr/>
        <a:lstStyle/>
        <a:p>
          <a:r>
            <a:rPr lang="en-US" b="1"/>
            <a:t>G05 allocation:</a:t>
          </a:r>
          <a:r>
            <a:rPr lang="en-US"/>
            <a:t> Two regressors on the </a:t>
          </a:r>
          <a:r>
            <a:rPr lang="en-US" b="1"/>
            <a:t>same 26 features</a:t>
          </a:r>
          <a:r>
            <a:rPr lang="en-US"/>
            <a:t> — no neural nets / XGBoost.</a:t>
          </a:r>
        </a:p>
      </dgm:t>
    </dgm:pt>
    <dgm:pt modelId="{D243B460-72B8-462F-BAD6-F1B13064E67F}" type="parTrans" cxnId="{89049B45-55E9-434D-BAA2-2DFF9EB529A4}">
      <dgm:prSet/>
      <dgm:spPr/>
      <dgm:t>
        <a:bodyPr/>
        <a:lstStyle/>
        <a:p>
          <a:endParaRPr lang="en-US"/>
        </a:p>
      </dgm:t>
    </dgm:pt>
    <dgm:pt modelId="{3D617564-21DA-4172-9235-CE11B9786F08}" type="sibTrans" cxnId="{89049B45-55E9-434D-BAA2-2DFF9EB529A4}">
      <dgm:prSet/>
      <dgm:spPr/>
      <dgm:t>
        <a:bodyPr/>
        <a:lstStyle/>
        <a:p>
          <a:endParaRPr lang="en-US"/>
        </a:p>
      </dgm:t>
    </dgm:pt>
    <dgm:pt modelId="{5E70AB84-9B58-4CA8-91DE-84FE3320B1D7}">
      <dgm:prSet/>
      <dgm:spPr/>
      <dgm:t>
        <a:bodyPr/>
        <a:lstStyle/>
        <a:p>
          <a:r>
            <a:rPr lang="en-US" b="1"/>
            <a:t>Decision Tree:</a:t>
          </a:r>
          <a:r>
            <a:rPr lang="en-US"/>
            <a:t> Single </a:t>
          </a:r>
          <a:r>
            <a:rPr lang="en-US" b="1"/>
            <a:t>non-linear</a:t>
          </a:r>
          <a:r>
            <a:rPr lang="en-US"/>
            <a:t>, </a:t>
          </a:r>
          <a:r>
            <a:rPr lang="en-US" b="1"/>
            <a:t>interpretable</a:t>
          </a:r>
          <a:r>
            <a:rPr lang="en-US"/>
            <a:t> baseline (splits, feature importance).</a:t>
          </a:r>
        </a:p>
      </dgm:t>
    </dgm:pt>
    <dgm:pt modelId="{C4B86431-9B6B-4E13-8964-781B7EF1DD37}" type="parTrans" cxnId="{045C3A70-BDD3-4B4A-91BC-74386CBD728B}">
      <dgm:prSet/>
      <dgm:spPr/>
      <dgm:t>
        <a:bodyPr/>
        <a:lstStyle/>
        <a:p>
          <a:endParaRPr lang="en-US"/>
        </a:p>
      </dgm:t>
    </dgm:pt>
    <dgm:pt modelId="{DCEABE41-AEFF-4443-ADE0-BE62C5CE28F2}" type="sibTrans" cxnId="{045C3A70-BDD3-4B4A-91BC-74386CBD728B}">
      <dgm:prSet/>
      <dgm:spPr/>
      <dgm:t>
        <a:bodyPr/>
        <a:lstStyle/>
        <a:p>
          <a:endParaRPr lang="en-US"/>
        </a:p>
      </dgm:t>
    </dgm:pt>
    <dgm:pt modelId="{60759F85-7D21-4BB3-8C42-59EBF4C2ECB1}">
      <dgm:prSet/>
      <dgm:spPr/>
      <dgm:t>
        <a:bodyPr/>
        <a:lstStyle/>
        <a:p>
          <a:r>
            <a:rPr lang="en-US" b="1"/>
            <a:t>AdaBoost:</a:t>
          </a:r>
          <a:r>
            <a:rPr lang="en-US"/>
            <a:t> </a:t>
          </a:r>
          <a:r>
            <a:rPr lang="en-US" b="1"/>
            <a:t>200 shallow stumps</a:t>
          </a:r>
          <a:r>
            <a:rPr lang="en-US"/>
            <a:t> (weak learners), </a:t>
          </a:r>
          <a:r>
            <a:rPr lang="en-US" b="1"/>
            <a:t>square loss</a:t>
          </a:r>
          <a:r>
            <a:rPr lang="en-US"/>
            <a:t> — each stump corrects previous errors → </a:t>
          </a:r>
          <a:r>
            <a:rPr lang="en-US" b="1"/>
            <a:t>strong ensemble</a:t>
          </a:r>
          <a:r>
            <a:rPr lang="en-US"/>
            <a:t>.</a:t>
          </a:r>
        </a:p>
      </dgm:t>
    </dgm:pt>
    <dgm:pt modelId="{BCD79633-E953-4A85-8478-A6BF9AC35C74}" type="parTrans" cxnId="{D696C988-B1D4-4C03-A453-26FC615215AC}">
      <dgm:prSet/>
      <dgm:spPr/>
      <dgm:t>
        <a:bodyPr/>
        <a:lstStyle/>
        <a:p>
          <a:endParaRPr lang="en-US"/>
        </a:p>
      </dgm:t>
    </dgm:pt>
    <dgm:pt modelId="{BF040CEE-FC87-4935-BDEE-4B5572D57924}" type="sibTrans" cxnId="{D696C988-B1D4-4C03-A453-26FC615215AC}">
      <dgm:prSet/>
      <dgm:spPr/>
      <dgm:t>
        <a:bodyPr/>
        <a:lstStyle/>
        <a:p>
          <a:endParaRPr lang="en-US"/>
        </a:p>
      </dgm:t>
    </dgm:pt>
    <dgm:pt modelId="{62683DBE-E036-4212-A27B-43D2BB2E6F7A}">
      <dgm:prSet/>
      <dgm:spPr/>
      <dgm:t>
        <a:bodyPr/>
        <a:lstStyle/>
        <a:p>
          <a:r>
            <a:rPr lang="en-US" b="1" dirty="0"/>
            <a:t>Validation:</a:t>
          </a:r>
          <a:r>
            <a:rPr lang="en-US" dirty="0"/>
            <a:t> </a:t>
          </a:r>
          <a:r>
            <a:rPr lang="en-US" b="1" dirty="0" err="1"/>
            <a:t>TimeSeriesSplit</a:t>
          </a:r>
          <a:r>
            <a:rPr lang="en-US" b="1" dirty="0"/>
            <a:t> (5-fold)</a:t>
          </a:r>
          <a:r>
            <a:rPr lang="en-US" dirty="0"/>
            <a:t> + grid search; </a:t>
          </a:r>
          <a:r>
            <a:rPr lang="en-US" b="1" dirty="0"/>
            <a:t>hold-out</a:t>
          </a:r>
          <a:r>
            <a:rPr lang="en-US" dirty="0"/>
            <a:t> last 336 h for final metrics.</a:t>
          </a:r>
        </a:p>
      </dgm:t>
    </dgm:pt>
    <dgm:pt modelId="{F98E6CA2-0F09-4DB4-84EF-A775B501FE73}" type="parTrans" cxnId="{2E263E9D-9242-4E9F-BB8A-830841BC13D4}">
      <dgm:prSet/>
      <dgm:spPr/>
      <dgm:t>
        <a:bodyPr/>
        <a:lstStyle/>
        <a:p>
          <a:endParaRPr lang="en-US"/>
        </a:p>
      </dgm:t>
    </dgm:pt>
    <dgm:pt modelId="{71626704-ACA5-4F05-A806-223988E75FE4}" type="sibTrans" cxnId="{2E263E9D-9242-4E9F-BB8A-830841BC13D4}">
      <dgm:prSet/>
      <dgm:spPr/>
      <dgm:t>
        <a:bodyPr/>
        <a:lstStyle/>
        <a:p>
          <a:endParaRPr lang="en-US"/>
        </a:p>
      </dgm:t>
    </dgm:pt>
    <dgm:pt modelId="{FF2FC1AF-E896-4837-90F3-7F566D3547F0}" type="pres">
      <dgm:prSet presAssocID="{8B6FF408-D309-40C1-AC4A-2F5ED7173C6C}" presName="linear" presStyleCnt="0">
        <dgm:presLayoutVars>
          <dgm:animLvl val="lvl"/>
          <dgm:resizeHandles val="exact"/>
        </dgm:presLayoutVars>
      </dgm:prSet>
      <dgm:spPr/>
    </dgm:pt>
    <dgm:pt modelId="{90944D0C-706A-46FC-9560-927B720E6F86}" type="pres">
      <dgm:prSet presAssocID="{38277F77-317D-4B63-A5A0-9042B829D08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1997AA2-E332-4C78-ACAF-6845F7D23C52}" type="pres">
      <dgm:prSet presAssocID="{C4337C63-9A64-403C-B79B-F9A3D7219F9E}" presName="spacer" presStyleCnt="0"/>
      <dgm:spPr/>
    </dgm:pt>
    <dgm:pt modelId="{4A9CC35F-3A3A-4108-87AF-5A03A80DBE01}" type="pres">
      <dgm:prSet presAssocID="{DE5CC7E8-F1CB-4165-A45F-E06E63150B1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E447A93-E39E-4D06-9E98-F96A3C27CCD5}" type="pres">
      <dgm:prSet presAssocID="{3D617564-21DA-4172-9235-CE11B9786F08}" presName="spacer" presStyleCnt="0"/>
      <dgm:spPr/>
    </dgm:pt>
    <dgm:pt modelId="{D41A715A-C2A8-41CE-9AF0-23665DF1AE0C}" type="pres">
      <dgm:prSet presAssocID="{5E70AB84-9B58-4CA8-91DE-84FE3320B1D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7FAD988-AFDA-4CCB-8AD4-0190BD16292F}" type="pres">
      <dgm:prSet presAssocID="{DCEABE41-AEFF-4443-ADE0-BE62C5CE28F2}" presName="spacer" presStyleCnt="0"/>
      <dgm:spPr/>
    </dgm:pt>
    <dgm:pt modelId="{A6F41B27-CB63-44EC-863E-054B2AEB0546}" type="pres">
      <dgm:prSet presAssocID="{60759F85-7D21-4BB3-8C42-59EBF4C2ECB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4074C0C-6128-4866-8849-C69B8063E448}" type="pres">
      <dgm:prSet presAssocID="{BF040CEE-FC87-4935-BDEE-4B5572D57924}" presName="spacer" presStyleCnt="0"/>
      <dgm:spPr/>
    </dgm:pt>
    <dgm:pt modelId="{9D08C09B-8A78-44C8-99CE-9CF22196F4F3}" type="pres">
      <dgm:prSet presAssocID="{62683DBE-E036-4212-A27B-43D2BB2E6F7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2504B0E-5747-4227-AC41-C6317A9D5598}" srcId="{8B6FF408-D309-40C1-AC4A-2F5ED7173C6C}" destId="{38277F77-317D-4B63-A5A0-9042B829D08F}" srcOrd="0" destOrd="0" parTransId="{3D74A26D-D528-4C0B-8720-E0600759634D}" sibTransId="{C4337C63-9A64-403C-B79B-F9A3D7219F9E}"/>
    <dgm:cxn modelId="{6FBB6B17-A0B1-419D-843B-490F2ACAD7F2}" type="presOf" srcId="{8B6FF408-D309-40C1-AC4A-2F5ED7173C6C}" destId="{FF2FC1AF-E896-4837-90F3-7F566D3547F0}" srcOrd="0" destOrd="0" presId="urn:microsoft.com/office/officeart/2005/8/layout/vList2"/>
    <dgm:cxn modelId="{89049B45-55E9-434D-BAA2-2DFF9EB529A4}" srcId="{8B6FF408-D309-40C1-AC4A-2F5ED7173C6C}" destId="{DE5CC7E8-F1CB-4165-A45F-E06E63150B14}" srcOrd="1" destOrd="0" parTransId="{D243B460-72B8-462F-BAD6-F1B13064E67F}" sibTransId="{3D617564-21DA-4172-9235-CE11B9786F08}"/>
    <dgm:cxn modelId="{045C3A70-BDD3-4B4A-91BC-74386CBD728B}" srcId="{8B6FF408-D309-40C1-AC4A-2F5ED7173C6C}" destId="{5E70AB84-9B58-4CA8-91DE-84FE3320B1D7}" srcOrd="2" destOrd="0" parTransId="{C4B86431-9B6B-4E13-8964-781B7EF1DD37}" sibTransId="{DCEABE41-AEFF-4443-ADE0-BE62C5CE28F2}"/>
    <dgm:cxn modelId="{D696C988-B1D4-4C03-A453-26FC615215AC}" srcId="{8B6FF408-D309-40C1-AC4A-2F5ED7173C6C}" destId="{60759F85-7D21-4BB3-8C42-59EBF4C2ECB1}" srcOrd="3" destOrd="0" parTransId="{BCD79633-E953-4A85-8478-A6BF9AC35C74}" sibTransId="{BF040CEE-FC87-4935-BDEE-4B5572D57924}"/>
    <dgm:cxn modelId="{E5280594-FF47-4E12-85E6-7951F3EE2CD2}" type="presOf" srcId="{38277F77-317D-4B63-A5A0-9042B829D08F}" destId="{90944D0C-706A-46FC-9560-927B720E6F86}" srcOrd="0" destOrd="0" presId="urn:microsoft.com/office/officeart/2005/8/layout/vList2"/>
    <dgm:cxn modelId="{9BDA3F97-0F6C-40AE-B2D2-262DB071ECBF}" type="presOf" srcId="{62683DBE-E036-4212-A27B-43D2BB2E6F7A}" destId="{9D08C09B-8A78-44C8-99CE-9CF22196F4F3}" srcOrd="0" destOrd="0" presId="urn:microsoft.com/office/officeart/2005/8/layout/vList2"/>
    <dgm:cxn modelId="{2E263E9D-9242-4E9F-BB8A-830841BC13D4}" srcId="{8B6FF408-D309-40C1-AC4A-2F5ED7173C6C}" destId="{62683DBE-E036-4212-A27B-43D2BB2E6F7A}" srcOrd="4" destOrd="0" parTransId="{F98E6CA2-0F09-4DB4-84EF-A775B501FE73}" sibTransId="{71626704-ACA5-4F05-A806-223988E75FE4}"/>
    <dgm:cxn modelId="{FF8863A9-7E45-4A7B-A8BC-95A8A28CCB10}" type="presOf" srcId="{60759F85-7D21-4BB3-8C42-59EBF4C2ECB1}" destId="{A6F41B27-CB63-44EC-863E-054B2AEB0546}" srcOrd="0" destOrd="0" presId="urn:microsoft.com/office/officeart/2005/8/layout/vList2"/>
    <dgm:cxn modelId="{02023CC7-A3DC-405C-B43C-29D367BA3198}" type="presOf" srcId="{5E70AB84-9B58-4CA8-91DE-84FE3320B1D7}" destId="{D41A715A-C2A8-41CE-9AF0-23665DF1AE0C}" srcOrd="0" destOrd="0" presId="urn:microsoft.com/office/officeart/2005/8/layout/vList2"/>
    <dgm:cxn modelId="{DF66BEEB-F09B-451E-A67C-3471C22B2485}" type="presOf" srcId="{DE5CC7E8-F1CB-4165-A45F-E06E63150B14}" destId="{4A9CC35F-3A3A-4108-87AF-5A03A80DBE01}" srcOrd="0" destOrd="0" presId="urn:microsoft.com/office/officeart/2005/8/layout/vList2"/>
    <dgm:cxn modelId="{DD5D9C96-747E-42A1-8654-16EA613866FB}" type="presParOf" srcId="{FF2FC1AF-E896-4837-90F3-7F566D3547F0}" destId="{90944D0C-706A-46FC-9560-927B720E6F86}" srcOrd="0" destOrd="0" presId="urn:microsoft.com/office/officeart/2005/8/layout/vList2"/>
    <dgm:cxn modelId="{09510C99-040A-4D3C-838D-5057794F1CEF}" type="presParOf" srcId="{FF2FC1AF-E896-4837-90F3-7F566D3547F0}" destId="{21997AA2-E332-4C78-ACAF-6845F7D23C52}" srcOrd="1" destOrd="0" presId="urn:microsoft.com/office/officeart/2005/8/layout/vList2"/>
    <dgm:cxn modelId="{92A9DC44-6302-412B-80EE-D90F55C5DDD8}" type="presParOf" srcId="{FF2FC1AF-E896-4837-90F3-7F566D3547F0}" destId="{4A9CC35F-3A3A-4108-87AF-5A03A80DBE01}" srcOrd="2" destOrd="0" presId="urn:microsoft.com/office/officeart/2005/8/layout/vList2"/>
    <dgm:cxn modelId="{7FE232C5-3994-4CCA-AE46-9117E214F269}" type="presParOf" srcId="{FF2FC1AF-E896-4837-90F3-7F566D3547F0}" destId="{DE447A93-E39E-4D06-9E98-F96A3C27CCD5}" srcOrd="3" destOrd="0" presId="urn:microsoft.com/office/officeart/2005/8/layout/vList2"/>
    <dgm:cxn modelId="{7419609F-D75E-4806-8787-18F2D35F0C4F}" type="presParOf" srcId="{FF2FC1AF-E896-4837-90F3-7F566D3547F0}" destId="{D41A715A-C2A8-41CE-9AF0-23665DF1AE0C}" srcOrd="4" destOrd="0" presId="urn:microsoft.com/office/officeart/2005/8/layout/vList2"/>
    <dgm:cxn modelId="{4CB948DB-A12D-4C0A-8A45-9521FE535AC1}" type="presParOf" srcId="{FF2FC1AF-E896-4837-90F3-7F566D3547F0}" destId="{97FAD988-AFDA-4CCB-8AD4-0190BD16292F}" srcOrd="5" destOrd="0" presId="urn:microsoft.com/office/officeart/2005/8/layout/vList2"/>
    <dgm:cxn modelId="{E96B98FA-4ED6-45DC-A413-FC1D7E913781}" type="presParOf" srcId="{FF2FC1AF-E896-4837-90F3-7F566D3547F0}" destId="{A6F41B27-CB63-44EC-863E-054B2AEB0546}" srcOrd="6" destOrd="0" presId="urn:microsoft.com/office/officeart/2005/8/layout/vList2"/>
    <dgm:cxn modelId="{59962C1E-90DF-4D5E-90D7-FAFF8F0D27E0}" type="presParOf" srcId="{FF2FC1AF-E896-4837-90F3-7F566D3547F0}" destId="{84074C0C-6128-4866-8849-C69B8063E448}" srcOrd="7" destOrd="0" presId="urn:microsoft.com/office/officeart/2005/8/layout/vList2"/>
    <dgm:cxn modelId="{926DB330-4777-4DB1-9CDD-26029E571B6A}" type="presParOf" srcId="{FF2FC1AF-E896-4837-90F3-7F566D3547F0}" destId="{9D08C09B-8A78-44C8-99CE-9CF22196F4F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944D0C-706A-46FC-9560-927B720E6F86}">
      <dsp:nvSpPr>
        <dsp:cNvPr id="0" name=""/>
        <dsp:cNvSpPr/>
      </dsp:nvSpPr>
      <dsp:spPr>
        <a:xfrm>
          <a:off x="0" y="98335"/>
          <a:ext cx="6202679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What is our modeling approach?</a:t>
          </a:r>
          <a:endParaRPr lang="en-US" sz="1400" kern="1200"/>
        </a:p>
      </dsp:txBody>
      <dsp:txXfrm>
        <a:off x="27149" y="125484"/>
        <a:ext cx="6148381" cy="501854"/>
      </dsp:txXfrm>
    </dsp:sp>
    <dsp:sp modelId="{4A9CC35F-3A3A-4108-87AF-5A03A80DBE01}">
      <dsp:nvSpPr>
        <dsp:cNvPr id="0" name=""/>
        <dsp:cNvSpPr/>
      </dsp:nvSpPr>
      <dsp:spPr>
        <a:xfrm>
          <a:off x="0" y="694807"/>
          <a:ext cx="6202679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G05 allocation:</a:t>
          </a:r>
          <a:r>
            <a:rPr lang="en-US" sz="1400" kern="1200"/>
            <a:t> Two regressors on the </a:t>
          </a:r>
          <a:r>
            <a:rPr lang="en-US" sz="1400" b="1" kern="1200"/>
            <a:t>same 26 features</a:t>
          </a:r>
          <a:r>
            <a:rPr lang="en-US" sz="1400" kern="1200"/>
            <a:t> — no neural nets / XGBoost.</a:t>
          </a:r>
        </a:p>
      </dsp:txBody>
      <dsp:txXfrm>
        <a:off x="27149" y="721956"/>
        <a:ext cx="6148381" cy="501854"/>
      </dsp:txXfrm>
    </dsp:sp>
    <dsp:sp modelId="{D41A715A-C2A8-41CE-9AF0-23665DF1AE0C}">
      <dsp:nvSpPr>
        <dsp:cNvPr id="0" name=""/>
        <dsp:cNvSpPr/>
      </dsp:nvSpPr>
      <dsp:spPr>
        <a:xfrm>
          <a:off x="0" y="1291279"/>
          <a:ext cx="6202679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Decision Tree:</a:t>
          </a:r>
          <a:r>
            <a:rPr lang="en-US" sz="1400" kern="1200"/>
            <a:t> Single </a:t>
          </a:r>
          <a:r>
            <a:rPr lang="en-US" sz="1400" b="1" kern="1200"/>
            <a:t>non-linear</a:t>
          </a:r>
          <a:r>
            <a:rPr lang="en-US" sz="1400" kern="1200"/>
            <a:t>, </a:t>
          </a:r>
          <a:r>
            <a:rPr lang="en-US" sz="1400" b="1" kern="1200"/>
            <a:t>interpretable</a:t>
          </a:r>
          <a:r>
            <a:rPr lang="en-US" sz="1400" kern="1200"/>
            <a:t> baseline (splits, feature importance).</a:t>
          </a:r>
        </a:p>
      </dsp:txBody>
      <dsp:txXfrm>
        <a:off x="27149" y="1318428"/>
        <a:ext cx="6148381" cy="501854"/>
      </dsp:txXfrm>
    </dsp:sp>
    <dsp:sp modelId="{A6F41B27-CB63-44EC-863E-054B2AEB0546}">
      <dsp:nvSpPr>
        <dsp:cNvPr id="0" name=""/>
        <dsp:cNvSpPr/>
      </dsp:nvSpPr>
      <dsp:spPr>
        <a:xfrm>
          <a:off x="0" y="1887752"/>
          <a:ext cx="6202679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AdaBoost:</a:t>
          </a:r>
          <a:r>
            <a:rPr lang="en-US" sz="1400" kern="1200"/>
            <a:t> </a:t>
          </a:r>
          <a:r>
            <a:rPr lang="en-US" sz="1400" b="1" kern="1200"/>
            <a:t>200 shallow stumps</a:t>
          </a:r>
          <a:r>
            <a:rPr lang="en-US" sz="1400" kern="1200"/>
            <a:t> (weak learners), </a:t>
          </a:r>
          <a:r>
            <a:rPr lang="en-US" sz="1400" b="1" kern="1200"/>
            <a:t>square loss</a:t>
          </a:r>
          <a:r>
            <a:rPr lang="en-US" sz="1400" kern="1200"/>
            <a:t> — each stump corrects previous errors → </a:t>
          </a:r>
          <a:r>
            <a:rPr lang="en-US" sz="1400" b="1" kern="1200"/>
            <a:t>strong ensemble</a:t>
          </a:r>
          <a:r>
            <a:rPr lang="en-US" sz="1400" kern="1200"/>
            <a:t>.</a:t>
          </a:r>
        </a:p>
      </dsp:txBody>
      <dsp:txXfrm>
        <a:off x="27149" y="1914901"/>
        <a:ext cx="6148381" cy="501854"/>
      </dsp:txXfrm>
    </dsp:sp>
    <dsp:sp modelId="{9D08C09B-8A78-44C8-99CE-9CF22196F4F3}">
      <dsp:nvSpPr>
        <dsp:cNvPr id="0" name=""/>
        <dsp:cNvSpPr/>
      </dsp:nvSpPr>
      <dsp:spPr>
        <a:xfrm>
          <a:off x="0" y="2484224"/>
          <a:ext cx="6202679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Validation:</a:t>
          </a:r>
          <a:r>
            <a:rPr lang="en-US" sz="1400" kern="1200" dirty="0"/>
            <a:t> </a:t>
          </a:r>
          <a:r>
            <a:rPr lang="en-US" sz="1400" b="1" kern="1200" dirty="0" err="1"/>
            <a:t>TimeSeriesSplit</a:t>
          </a:r>
          <a:r>
            <a:rPr lang="en-US" sz="1400" b="1" kern="1200" dirty="0"/>
            <a:t> (5-fold)</a:t>
          </a:r>
          <a:r>
            <a:rPr lang="en-US" sz="1400" kern="1200" dirty="0"/>
            <a:t> + grid search; </a:t>
          </a:r>
          <a:r>
            <a:rPr lang="en-US" sz="1400" b="1" kern="1200" dirty="0"/>
            <a:t>hold-out</a:t>
          </a:r>
          <a:r>
            <a:rPr lang="en-US" sz="1400" kern="1200" dirty="0"/>
            <a:t> last 336 h for final metrics.</a:t>
          </a:r>
        </a:p>
      </dsp:txBody>
      <dsp:txXfrm>
        <a:off x="27149" y="2511373"/>
        <a:ext cx="6148381" cy="5018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ee344-g05-stlf.vercel.app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ahmetbtopcu/mee344-g05-stlf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ounded Rectangle 9">
            <a:extLst>
              <a:ext uri="{FF2B5EF4-FFF2-40B4-BE49-F238E27FC236}">
                <a16:creationId xmlns:a16="http://schemas.microsoft.com/office/drawing/2014/main" id="{3FF02D4B-80B0-C700-B7BB-ACD2067A71A9}"/>
              </a:ext>
            </a:extLst>
          </p:cNvPr>
          <p:cNvSpPr/>
          <p:nvPr/>
        </p:nvSpPr>
        <p:spPr>
          <a:xfrm>
            <a:off x="384049" y="1123674"/>
            <a:ext cx="2081361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320040"/>
            <a:ext cx="2011680" cy="36576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8889" y="247183"/>
            <a:ext cx="201167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tr-TR" dirty="0"/>
              <a:t>Sunum Akışı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10128" y="2225242"/>
            <a:ext cx="827517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lang="en-US" sz="4800" dirty="0"/>
              <a:t>Turkey Hourly Electricity Consumption Forecast</a:t>
            </a:r>
            <a:endParaRPr sz="4800" dirty="0"/>
          </a:p>
        </p:txBody>
      </p:sp>
      <p:sp>
        <p:nvSpPr>
          <p:cNvPr id="6" name="TextBox 5"/>
          <p:cNvSpPr txBox="1"/>
          <p:nvPr/>
        </p:nvSpPr>
        <p:spPr>
          <a:xfrm>
            <a:off x="3670952" y="3956501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8BDF8"/>
                </a:solidFill>
              </a:defRPr>
            </a:pPr>
            <a:r>
              <a:rPr dirty="0"/>
              <a:t>Decision Tree + AdaBoost · Short-Term Load Forecasting</a:t>
            </a:r>
          </a:p>
        </p:txBody>
      </p:sp>
      <p:sp>
        <p:nvSpPr>
          <p:cNvPr id="78" name="Rounded Rectangle 14">
            <a:extLst>
              <a:ext uri="{FF2B5EF4-FFF2-40B4-BE49-F238E27FC236}">
                <a16:creationId xmlns:a16="http://schemas.microsoft.com/office/drawing/2014/main" id="{D768A89C-F46F-61B6-7141-5F0AC198A4BF}"/>
              </a:ext>
            </a:extLst>
          </p:cNvPr>
          <p:cNvSpPr/>
          <p:nvPr/>
        </p:nvSpPr>
        <p:spPr>
          <a:xfrm>
            <a:off x="384049" y="2103120"/>
            <a:ext cx="2081360" cy="8046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9" name="TextBox 15">
            <a:extLst>
              <a:ext uri="{FF2B5EF4-FFF2-40B4-BE49-F238E27FC236}">
                <a16:creationId xmlns:a16="http://schemas.microsoft.com/office/drawing/2014/main" id="{04C34C65-8154-B6CB-7B4C-ADC9B3B226AD}"/>
              </a:ext>
            </a:extLst>
          </p:cNvPr>
          <p:cNvSpPr txBox="1"/>
          <p:nvPr/>
        </p:nvSpPr>
        <p:spPr>
          <a:xfrm>
            <a:off x="521208" y="228600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</a:defRPr>
            </a:pPr>
            <a:r>
              <a:rPr sz="1200" dirty="0"/>
              <a:t>02</a:t>
            </a:r>
          </a:p>
        </p:txBody>
      </p:sp>
      <p:sp>
        <p:nvSpPr>
          <p:cNvPr id="80" name="TextBox 16">
            <a:extLst>
              <a:ext uri="{FF2B5EF4-FFF2-40B4-BE49-F238E27FC236}">
                <a16:creationId xmlns:a16="http://schemas.microsoft.com/office/drawing/2014/main" id="{25776B9A-FFA7-A8A1-EB30-F50D6185F29A}"/>
              </a:ext>
            </a:extLst>
          </p:cNvPr>
          <p:cNvSpPr txBox="1"/>
          <p:nvPr/>
        </p:nvSpPr>
        <p:spPr>
          <a:xfrm>
            <a:off x="1024128" y="224028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A"/>
                </a:solidFill>
              </a:defRPr>
            </a:pPr>
            <a:r>
              <a:rPr sz="1100" dirty="0"/>
              <a:t>EDA &amp; Pipeline</a:t>
            </a:r>
          </a:p>
        </p:txBody>
      </p:sp>
      <p:sp>
        <p:nvSpPr>
          <p:cNvPr id="81" name="TextBox 17">
            <a:extLst>
              <a:ext uri="{FF2B5EF4-FFF2-40B4-BE49-F238E27FC236}">
                <a16:creationId xmlns:a16="http://schemas.microsoft.com/office/drawing/2014/main" id="{10EDAE29-26C1-0680-4C58-7D0F9C76F672}"/>
              </a:ext>
            </a:extLst>
          </p:cNvPr>
          <p:cNvSpPr txBox="1"/>
          <p:nvPr/>
        </p:nvSpPr>
        <p:spPr>
          <a:xfrm>
            <a:off x="1024128" y="2542032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rPr lang="tr-TR" sz="900" dirty="0"/>
              <a:t>Furkan</a:t>
            </a:r>
            <a:endParaRPr sz="900" dirty="0"/>
          </a:p>
        </p:txBody>
      </p:sp>
      <p:sp>
        <p:nvSpPr>
          <p:cNvPr id="82" name="TextBox 18">
            <a:extLst>
              <a:ext uri="{FF2B5EF4-FFF2-40B4-BE49-F238E27FC236}">
                <a16:creationId xmlns:a16="http://schemas.microsoft.com/office/drawing/2014/main" id="{8A5C36CD-3B80-7EC5-D9DE-7C3DC3A2546C}"/>
              </a:ext>
            </a:extLst>
          </p:cNvPr>
          <p:cNvSpPr txBox="1"/>
          <p:nvPr/>
        </p:nvSpPr>
        <p:spPr>
          <a:xfrm>
            <a:off x="1115710" y="2496312"/>
            <a:ext cx="1097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8BDF8"/>
                </a:solidFill>
              </a:defRPr>
            </a:pPr>
            <a:r>
              <a:rPr sz="900"/>
              <a:t>3 dk</a:t>
            </a:r>
          </a:p>
        </p:txBody>
      </p:sp>
      <p:sp>
        <p:nvSpPr>
          <p:cNvPr id="83" name="Rounded Rectangle 19">
            <a:extLst>
              <a:ext uri="{FF2B5EF4-FFF2-40B4-BE49-F238E27FC236}">
                <a16:creationId xmlns:a16="http://schemas.microsoft.com/office/drawing/2014/main" id="{3E0CD71C-66EA-D851-2054-D9563D44D3C0}"/>
              </a:ext>
            </a:extLst>
          </p:cNvPr>
          <p:cNvSpPr/>
          <p:nvPr/>
        </p:nvSpPr>
        <p:spPr>
          <a:xfrm>
            <a:off x="384049" y="3063240"/>
            <a:ext cx="208136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4" name="TextBox 20">
            <a:extLst>
              <a:ext uri="{FF2B5EF4-FFF2-40B4-BE49-F238E27FC236}">
                <a16:creationId xmlns:a16="http://schemas.microsoft.com/office/drawing/2014/main" id="{65EA4A95-D5F8-53A8-61B8-F7B5806AF578}"/>
              </a:ext>
            </a:extLst>
          </p:cNvPr>
          <p:cNvSpPr txBox="1"/>
          <p:nvPr/>
        </p:nvSpPr>
        <p:spPr>
          <a:xfrm>
            <a:off x="521208" y="324612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</a:defRPr>
            </a:pPr>
            <a:r>
              <a:rPr sz="1200"/>
              <a:t>03</a:t>
            </a:r>
          </a:p>
        </p:txBody>
      </p:sp>
      <p:sp>
        <p:nvSpPr>
          <p:cNvPr id="85" name="TextBox 21">
            <a:extLst>
              <a:ext uri="{FF2B5EF4-FFF2-40B4-BE49-F238E27FC236}">
                <a16:creationId xmlns:a16="http://schemas.microsoft.com/office/drawing/2014/main" id="{AF17AC9A-BD73-09BE-49BB-BA06DD6D0DB4}"/>
              </a:ext>
            </a:extLst>
          </p:cNvPr>
          <p:cNvSpPr txBox="1"/>
          <p:nvPr/>
        </p:nvSpPr>
        <p:spPr>
          <a:xfrm>
            <a:off x="1024128" y="320040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A"/>
                </a:solidFill>
              </a:defRPr>
            </a:pPr>
            <a:r>
              <a:rPr sz="1100" dirty="0"/>
              <a:t>Features &amp; Mode</a:t>
            </a:r>
            <a:r>
              <a:rPr lang="tr-TR" sz="1100" dirty="0" err="1"/>
              <a:t>ls</a:t>
            </a:r>
            <a:endParaRPr sz="1100" dirty="0"/>
          </a:p>
        </p:txBody>
      </p:sp>
      <p:sp>
        <p:nvSpPr>
          <p:cNvPr id="86" name="TextBox 22">
            <a:extLst>
              <a:ext uri="{FF2B5EF4-FFF2-40B4-BE49-F238E27FC236}">
                <a16:creationId xmlns:a16="http://schemas.microsoft.com/office/drawing/2014/main" id="{7254A25F-9E34-B3E7-1507-1044F5E2CBF5}"/>
              </a:ext>
            </a:extLst>
          </p:cNvPr>
          <p:cNvSpPr txBox="1"/>
          <p:nvPr/>
        </p:nvSpPr>
        <p:spPr>
          <a:xfrm>
            <a:off x="1024128" y="3502152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rPr sz="900" dirty="0"/>
              <a:t>Yusuf</a:t>
            </a:r>
          </a:p>
        </p:txBody>
      </p:sp>
      <p:sp>
        <p:nvSpPr>
          <p:cNvPr id="87" name="TextBox 23">
            <a:extLst>
              <a:ext uri="{FF2B5EF4-FFF2-40B4-BE49-F238E27FC236}">
                <a16:creationId xmlns:a16="http://schemas.microsoft.com/office/drawing/2014/main" id="{57B7553B-70C0-E89E-E567-D3EF0E1CA217}"/>
              </a:ext>
            </a:extLst>
          </p:cNvPr>
          <p:cNvSpPr txBox="1"/>
          <p:nvPr/>
        </p:nvSpPr>
        <p:spPr>
          <a:xfrm>
            <a:off x="1115567" y="3505789"/>
            <a:ext cx="1097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8BDF8"/>
                </a:solidFill>
              </a:defRPr>
            </a:pPr>
            <a:r>
              <a:rPr sz="900" dirty="0"/>
              <a:t>2 dk</a:t>
            </a:r>
          </a:p>
        </p:txBody>
      </p:sp>
      <p:sp>
        <p:nvSpPr>
          <p:cNvPr id="88" name="Rounded Rectangle 24">
            <a:extLst>
              <a:ext uri="{FF2B5EF4-FFF2-40B4-BE49-F238E27FC236}">
                <a16:creationId xmlns:a16="http://schemas.microsoft.com/office/drawing/2014/main" id="{3D391DBE-81FC-303F-F98D-802A19E684D9}"/>
              </a:ext>
            </a:extLst>
          </p:cNvPr>
          <p:cNvSpPr/>
          <p:nvPr/>
        </p:nvSpPr>
        <p:spPr>
          <a:xfrm>
            <a:off x="384049" y="4023360"/>
            <a:ext cx="2081360" cy="8046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" name="TextBox 25">
            <a:extLst>
              <a:ext uri="{FF2B5EF4-FFF2-40B4-BE49-F238E27FC236}">
                <a16:creationId xmlns:a16="http://schemas.microsoft.com/office/drawing/2014/main" id="{F2A8FE38-2C68-47E3-ECFE-DC9A784EE343}"/>
              </a:ext>
            </a:extLst>
          </p:cNvPr>
          <p:cNvSpPr txBox="1"/>
          <p:nvPr/>
        </p:nvSpPr>
        <p:spPr>
          <a:xfrm>
            <a:off x="521208" y="420624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</a:defRPr>
            </a:pPr>
            <a:r>
              <a:rPr sz="1200"/>
              <a:t>04</a:t>
            </a:r>
          </a:p>
        </p:txBody>
      </p:sp>
      <p:sp>
        <p:nvSpPr>
          <p:cNvPr id="90" name="TextBox 26">
            <a:extLst>
              <a:ext uri="{FF2B5EF4-FFF2-40B4-BE49-F238E27FC236}">
                <a16:creationId xmlns:a16="http://schemas.microsoft.com/office/drawing/2014/main" id="{61579108-AC4C-2AB9-F1B7-066B9DDD05DF}"/>
              </a:ext>
            </a:extLst>
          </p:cNvPr>
          <p:cNvSpPr txBox="1"/>
          <p:nvPr/>
        </p:nvSpPr>
        <p:spPr>
          <a:xfrm>
            <a:off x="1024128" y="416052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A"/>
                </a:solidFill>
              </a:defRPr>
            </a:pPr>
            <a:r>
              <a:rPr lang="tr-TR" sz="1100" dirty="0" err="1"/>
              <a:t>Results</a:t>
            </a:r>
            <a:endParaRPr sz="1100" dirty="0"/>
          </a:p>
        </p:txBody>
      </p:sp>
      <p:sp>
        <p:nvSpPr>
          <p:cNvPr id="91" name="TextBox 27">
            <a:extLst>
              <a:ext uri="{FF2B5EF4-FFF2-40B4-BE49-F238E27FC236}">
                <a16:creationId xmlns:a16="http://schemas.microsoft.com/office/drawing/2014/main" id="{EAB759CF-3801-6EEE-5599-0E9C8022A5F8}"/>
              </a:ext>
            </a:extLst>
          </p:cNvPr>
          <p:cNvSpPr txBox="1"/>
          <p:nvPr/>
        </p:nvSpPr>
        <p:spPr>
          <a:xfrm>
            <a:off x="1024128" y="4404399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rPr lang="tr-TR" sz="900" dirty="0" err="1"/>
              <a:t>Tekgül</a:t>
            </a:r>
            <a:endParaRPr sz="900" dirty="0"/>
          </a:p>
        </p:txBody>
      </p:sp>
      <p:sp>
        <p:nvSpPr>
          <p:cNvPr id="92" name="TextBox 28">
            <a:extLst>
              <a:ext uri="{FF2B5EF4-FFF2-40B4-BE49-F238E27FC236}">
                <a16:creationId xmlns:a16="http://schemas.microsoft.com/office/drawing/2014/main" id="{2ADCC372-76AF-BE87-090A-6E1A27B635CE}"/>
              </a:ext>
            </a:extLst>
          </p:cNvPr>
          <p:cNvSpPr txBox="1"/>
          <p:nvPr/>
        </p:nvSpPr>
        <p:spPr>
          <a:xfrm>
            <a:off x="1115567" y="4475501"/>
            <a:ext cx="1097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8BDF8"/>
                </a:solidFill>
              </a:defRPr>
            </a:pPr>
            <a:r>
              <a:rPr sz="900" dirty="0"/>
              <a:t>3 dk</a:t>
            </a:r>
          </a:p>
        </p:txBody>
      </p:sp>
      <p:sp>
        <p:nvSpPr>
          <p:cNvPr id="93" name="Rounded Rectangle 29">
            <a:extLst>
              <a:ext uri="{FF2B5EF4-FFF2-40B4-BE49-F238E27FC236}">
                <a16:creationId xmlns:a16="http://schemas.microsoft.com/office/drawing/2014/main" id="{1BB2D9B2-A71C-94F1-5EB4-50936EDD9FF0}"/>
              </a:ext>
            </a:extLst>
          </p:cNvPr>
          <p:cNvSpPr/>
          <p:nvPr/>
        </p:nvSpPr>
        <p:spPr>
          <a:xfrm>
            <a:off x="384050" y="4902523"/>
            <a:ext cx="208136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4" name="TextBox 30">
            <a:extLst>
              <a:ext uri="{FF2B5EF4-FFF2-40B4-BE49-F238E27FC236}">
                <a16:creationId xmlns:a16="http://schemas.microsoft.com/office/drawing/2014/main" id="{8766CA59-BBC2-186E-7BA2-63EAB8B9DFFB}"/>
              </a:ext>
            </a:extLst>
          </p:cNvPr>
          <p:cNvSpPr txBox="1"/>
          <p:nvPr/>
        </p:nvSpPr>
        <p:spPr>
          <a:xfrm>
            <a:off x="521208" y="516636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</a:defRPr>
            </a:pPr>
            <a:r>
              <a:rPr sz="1200"/>
              <a:t>05</a:t>
            </a:r>
          </a:p>
        </p:txBody>
      </p:sp>
      <p:sp>
        <p:nvSpPr>
          <p:cNvPr id="95" name="TextBox 31">
            <a:extLst>
              <a:ext uri="{FF2B5EF4-FFF2-40B4-BE49-F238E27FC236}">
                <a16:creationId xmlns:a16="http://schemas.microsoft.com/office/drawing/2014/main" id="{3604BAA7-3D0D-2C6E-33FB-B51CF1CD83A6}"/>
              </a:ext>
            </a:extLst>
          </p:cNvPr>
          <p:cNvSpPr txBox="1"/>
          <p:nvPr/>
        </p:nvSpPr>
        <p:spPr>
          <a:xfrm>
            <a:off x="1024128" y="5120640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F3A"/>
                </a:solidFill>
              </a:defRPr>
            </a:pPr>
            <a:r>
              <a:rPr lang="tr-TR" sz="1100" dirty="0" err="1"/>
              <a:t>Review</a:t>
            </a:r>
            <a:r>
              <a:rPr lang="tr-TR" sz="1100" dirty="0"/>
              <a:t> &amp; Demo</a:t>
            </a:r>
          </a:p>
          <a:p>
            <a:pPr algn="l">
              <a:defRPr sz="1500" b="1">
                <a:solidFill>
                  <a:srgbClr val="0B1F3A"/>
                </a:solidFill>
              </a:defRPr>
            </a:pPr>
            <a:endParaRPr sz="1100" dirty="0"/>
          </a:p>
        </p:txBody>
      </p:sp>
      <p:sp>
        <p:nvSpPr>
          <p:cNvPr id="96" name="TextBox 32">
            <a:extLst>
              <a:ext uri="{FF2B5EF4-FFF2-40B4-BE49-F238E27FC236}">
                <a16:creationId xmlns:a16="http://schemas.microsoft.com/office/drawing/2014/main" id="{99B2C70E-9BEB-F24B-345F-6494E969ABC4}"/>
              </a:ext>
            </a:extLst>
          </p:cNvPr>
          <p:cNvSpPr txBox="1"/>
          <p:nvPr/>
        </p:nvSpPr>
        <p:spPr>
          <a:xfrm>
            <a:off x="1024128" y="5422392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rPr lang="tr-TR" sz="900" dirty="0"/>
              <a:t>Ahmet </a:t>
            </a:r>
            <a:endParaRPr sz="900" dirty="0"/>
          </a:p>
        </p:txBody>
      </p:sp>
      <p:sp>
        <p:nvSpPr>
          <p:cNvPr id="97" name="TextBox 33">
            <a:extLst>
              <a:ext uri="{FF2B5EF4-FFF2-40B4-BE49-F238E27FC236}">
                <a16:creationId xmlns:a16="http://schemas.microsoft.com/office/drawing/2014/main" id="{B7090E28-DEEC-F300-9F8D-F1FEDE0838CF}"/>
              </a:ext>
            </a:extLst>
          </p:cNvPr>
          <p:cNvSpPr txBox="1"/>
          <p:nvPr/>
        </p:nvSpPr>
        <p:spPr>
          <a:xfrm>
            <a:off x="1560786" y="5378706"/>
            <a:ext cx="65206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8BDF8"/>
                </a:solidFill>
              </a:defRPr>
            </a:pPr>
            <a:r>
              <a:rPr sz="900" dirty="0"/>
              <a:t>3</a:t>
            </a:r>
            <a:r>
              <a:rPr lang="tr-TR" sz="900" dirty="0"/>
              <a:t> </a:t>
            </a:r>
            <a:r>
              <a:rPr sz="900" dirty="0"/>
              <a:t>dk</a:t>
            </a:r>
          </a:p>
        </p:txBody>
      </p:sp>
      <p:sp>
        <p:nvSpPr>
          <p:cNvPr id="107" name="Rounded Rectangle 14">
            <a:extLst>
              <a:ext uri="{FF2B5EF4-FFF2-40B4-BE49-F238E27FC236}">
                <a16:creationId xmlns:a16="http://schemas.microsoft.com/office/drawing/2014/main" id="{8E82C7EE-7E69-8A0B-227F-30BBE75EAB37}"/>
              </a:ext>
            </a:extLst>
          </p:cNvPr>
          <p:cNvSpPr/>
          <p:nvPr/>
        </p:nvSpPr>
        <p:spPr>
          <a:xfrm>
            <a:off x="384048" y="1204753"/>
            <a:ext cx="2081360" cy="8046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2" name="TextBox 10">
            <a:extLst>
              <a:ext uri="{FF2B5EF4-FFF2-40B4-BE49-F238E27FC236}">
                <a16:creationId xmlns:a16="http://schemas.microsoft.com/office/drawing/2014/main" id="{13F7187F-F0B6-B0B1-720A-78241B7FC57D}"/>
              </a:ext>
            </a:extLst>
          </p:cNvPr>
          <p:cNvSpPr txBox="1"/>
          <p:nvPr/>
        </p:nvSpPr>
        <p:spPr>
          <a:xfrm>
            <a:off x="521208" y="132588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</a:defRPr>
            </a:pPr>
            <a:r>
              <a:rPr sz="1200"/>
              <a:t>01</a:t>
            </a:r>
          </a:p>
        </p:txBody>
      </p:sp>
      <p:sp>
        <p:nvSpPr>
          <p:cNvPr id="103" name="TextBox 11">
            <a:extLst>
              <a:ext uri="{FF2B5EF4-FFF2-40B4-BE49-F238E27FC236}">
                <a16:creationId xmlns:a16="http://schemas.microsoft.com/office/drawing/2014/main" id="{70784422-14C0-199A-68F5-2B0C8E6A5ED9}"/>
              </a:ext>
            </a:extLst>
          </p:cNvPr>
          <p:cNvSpPr txBox="1"/>
          <p:nvPr/>
        </p:nvSpPr>
        <p:spPr>
          <a:xfrm>
            <a:off x="1024128" y="1280160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F3A"/>
                </a:solidFill>
              </a:defRPr>
            </a:pPr>
            <a:r>
              <a:rPr lang="tr-TR" sz="1100" dirty="0"/>
              <a:t>Problem Statement</a:t>
            </a:r>
          </a:p>
          <a:p>
            <a:pPr algn="l">
              <a:defRPr sz="1500" b="1">
                <a:solidFill>
                  <a:srgbClr val="0B1F3A"/>
                </a:solidFill>
              </a:defRPr>
            </a:pPr>
            <a:endParaRPr sz="1100" dirty="0"/>
          </a:p>
        </p:txBody>
      </p:sp>
      <p:sp>
        <p:nvSpPr>
          <p:cNvPr id="104" name="TextBox 12">
            <a:extLst>
              <a:ext uri="{FF2B5EF4-FFF2-40B4-BE49-F238E27FC236}">
                <a16:creationId xmlns:a16="http://schemas.microsoft.com/office/drawing/2014/main" id="{E77670E9-B1E9-BF2A-691F-F313D17E3FBA}"/>
              </a:ext>
            </a:extLst>
          </p:cNvPr>
          <p:cNvSpPr txBox="1"/>
          <p:nvPr/>
        </p:nvSpPr>
        <p:spPr>
          <a:xfrm>
            <a:off x="1024128" y="1581912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rPr sz="900" dirty="0"/>
              <a:t>Berhan</a:t>
            </a:r>
          </a:p>
        </p:txBody>
      </p:sp>
      <p:sp>
        <p:nvSpPr>
          <p:cNvPr id="105" name="TextBox 13">
            <a:extLst>
              <a:ext uri="{FF2B5EF4-FFF2-40B4-BE49-F238E27FC236}">
                <a16:creationId xmlns:a16="http://schemas.microsoft.com/office/drawing/2014/main" id="{61273DAB-A2AA-738B-5251-901A78380147}"/>
              </a:ext>
            </a:extLst>
          </p:cNvPr>
          <p:cNvSpPr txBox="1"/>
          <p:nvPr/>
        </p:nvSpPr>
        <p:spPr>
          <a:xfrm>
            <a:off x="1115710" y="1617929"/>
            <a:ext cx="1097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8BDF8"/>
                </a:solidFill>
              </a:defRPr>
            </a:pPr>
            <a:r>
              <a:rPr sz="900" dirty="0"/>
              <a:t>2 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1752" y="1498148"/>
            <a:ext cx="4187952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00C9A7"/>
                </a:solidFill>
              </a:defRPr>
            </a:pPr>
            <a:r>
              <a:rPr sz="23900" dirty="0"/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98291" y="2514600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tr-TR" sz="7200" dirty="0"/>
              <a:t>Problem Statement</a:t>
            </a:r>
            <a:endParaRPr sz="7200" dirty="0"/>
          </a:p>
        </p:txBody>
      </p:sp>
      <p:sp>
        <p:nvSpPr>
          <p:cNvPr id="5" name="TextBox 4"/>
          <p:cNvSpPr txBox="1"/>
          <p:nvPr/>
        </p:nvSpPr>
        <p:spPr>
          <a:xfrm>
            <a:off x="5810259" y="3714029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8BDF8"/>
                </a:solidFill>
              </a:defRPr>
            </a:pPr>
            <a:r>
              <a:rPr lang="tr-TR" dirty="0"/>
              <a:t>STLF · </a:t>
            </a:r>
            <a:r>
              <a:rPr lang="tr-TR" dirty="0" err="1"/>
              <a:t>Regression</a:t>
            </a:r>
            <a:r>
              <a:rPr lang="tr-TR" dirty="0"/>
              <a:t> · EPİAŞ data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9144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tr-TR" dirty="0"/>
              <a:t>Problem &amp; </a:t>
            </a:r>
            <a:r>
              <a:rPr lang="tr-TR" dirty="0" err="1"/>
              <a:t>Motivation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84048" y="5303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</a:defRPr>
            </a:pPr>
            <a:r>
              <a:t>Saatlik elektrik tüketimi (MWh)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C9A7"/>
                </a:solidFill>
              </a:defRPr>
            </a:pPr>
            <a:r>
              <a:t>G05 · MEE344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EPİAŞ STLF · Decision Tree + AdaBoost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078" y="955608"/>
            <a:ext cx="512064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What is the problem?</a:t>
            </a:r>
            <a:endParaRPr lang="en-US" sz="1600" dirty="0"/>
          </a:p>
          <a:p>
            <a:r>
              <a:rPr lang="en-US" sz="1600" dirty="0"/>
              <a:t>We need to forecast </a:t>
            </a:r>
            <a:r>
              <a:rPr lang="en-US" sz="1600" b="1" dirty="0"/>
              <a:t>hourly electricity consumption in Turkey (MWh)</a:t>
            </a:r>
            <a:r>
              <a:rPr lang="en-US" sz="1600" dirty="0"/>
              <a:t> for the near future. Load is </a:t>
            </a:r>
            <a:r>
              <a:rPr lang="en-US" sz="1600" b="1" dirty="0"/>
              <a:t>highly variable</a:t>
            </a:r>
            <a:r>
              <a:rPr lang="en-US" sz="1600" dirty="0"/>
              <a:t>: it changes by hour, day of week, and season. Operators and markets must match </a:t>
            </a:r>
            <a:r>
              <a:rPr lang="en-US" sz="1600" b="1" dirty="0"/>
              <a:t>supply to demand</a:t>
            </a:r>
            <a:r>
              <a:rPr lang="en-US" sz="1600" dirty="0"/>
              <a:t> every hour; large forecast errors mean </a:t>
            </a:r>
            <a:r>
              <a:rPr lang="en-US" sz="1600" b="1" dirty="0"/>
              <a:t>higher balancing costs</a:t>
            </a:r>
            <a:r>
              <a:rPr lang="en-US" sz="1600" dirty="0"/>
              <a:t>, inefficient generation, and </a:t>
            </a:r>
            <a:r>
              <a:rPr lang="en-US" sz="1600" b="1" dirty="0"/>
              <a:t>grid risk</a:t>
            </a:r>
            <a:r>
              <a:rPr lang="en-US" sz="1600" dirty="0"/>
              <a:t>.</a:t>
            </a:r>
          </a:p>
          <a:p>
            <a:r>
              <a:rPr lang="en-US" sz="1600" dirty="0"/>
              <a:t>Formally, this is a </a:t>
            </a:r>
            <a:r>
              <a:rPr lang="en-US" sz="1600" b="1" dirty="0"/>
              <a:t>regression</a:t>
            </a:r>
            <a:r>
              <a:rPr lang="en-US" sz="1600" dirty="0"/>
              <a:t> task: predict </a:t>
            </a:r>
            <a:r>
              <a:rPr lang="en-US" sz="1600" dirty="0" err="1"/>
              <a:t>consumption_mwh</a:t>
            </a:r>
            <a:r>
              <a:rPr lang="en-US" sz="1600" dirty="0"/>
              <a:t> from past consumption and related inputs. We evaluate with </a:t>
            </a:r>
            <a:r>
              <a:rPr lang="en-US" sz="1600" b="1" dirty="0"/>
              <a:t>RMSE, MAE, R²</a:t>
            </a:r>
            <a:r>
              <a:rPr lang="en-US" sz="1600" dirty="0"/>
              <a:t> (and MAPE). Our data are </a:t>
            </a:r>
            <a:r>
              <a:rPr lang="en-US" sz="1600" b="1" dirty="0"/>
              <a:t>real EPİAŞ</a:t>
            </a:r>
            <a:r>
              <a:rPr lang="en-US" sz="1600" dirty="0"/>
              <a:t> records (production by source + consumption), not synthetic.</a:t>
            </a:r>
            <a:br>
              <a:rPr lang="tr-TR" sz="1600" dirty="0"/>
            </a:br>
            <a:br>
              <a:rPr lang="tr-TR" sz="1600" dirty="0"/>
            </a:br>
            <a:r>
              <a:rPr lang="en-US" sz="1600" b="1" dirty="0"/>
              <a:t>Operational value</a:t>
            </a:r>
            <a:r>
              <a:rPr lang="en-US" sz="1600" dirty="0"/>
              <a:t> — Better STLF supports </a:t>
            </a:r>
            <a:r>
              <a:rPr lang="en-US" sz="1600" b="1" dirty="0"/>
              <a:t>unit commitment</a:t>
            </a:r>
            <a:r>
              <a:rPr lang="en-US" sz="1600" dirty="0"/>
              <a:t>, </a:t>
            </a:r>
            <a:r>
              <a:rPr lang="en-US" sz="1600" b="1" dirty="0"/>
              <a:t>renewable integration</a:t>
            </a:r>
            <a:r>
              <a:rPr lang="en-US" sz="1600" dirty="0"/>
              <a:t>, and </a:t>
            </a:r>
            <a:r>
              <a:rPr lang="en-US" sz="1600" b="1" dirty="0"/>
              <a:t>day-ahead / intraday</a:t>
            </a:r>
            <a:r>
              <a:rPr lang="en-US" sz="1600" dirty="0"/>
              <a:t> decisions.</a:t>
            </a:r>
          </a:p>
          <a:p>
            <a:r>
              <a:rPr lang="en-US" sz="1600" b="1" dirty="0"/>
              <a:t>Scientific honesty</a:t>
            </a:r>
            <a:r>
              <a:rPr lang="en-US" sz="1600" dirty="0"/>
              <a:t> — Use </a:t>
            </a:r>
            <a:r>
              <a:rPr lang="en-US" sz="1600" b="1" dirty="0"/>
              <a:t>generation sources as exogenous features</a:t>
            </a:r>
            <a:r>
              <a:rPr lang="en-US" sz="1600" dirty="0"/>
              <a:t> only; the target is </a:t>
            </a:r>
            <a:r>
              <a:rPr lang="en-US" sz="1600" b="1" dirty="0"/>
              <a:t>consumption</a:t>
            </a:r>
            <a:r>
              <a:rPr lang="en-US" sz="1600" dirty="0"/>
              <a:t>, so we avoid predicting production total and calling it “load” (</a:t>
            </a:r>
            <a:r>
              <a:rPr lang="en-US" sz="1600" b="1" dirty="0"/>
              <a:t>no leakage</a:t>
            </a:r>
            <a:r>
              <a:rPr lang="en-US" sz="1600" dirty="0"/>
              <a:t>).</a:t>
            </a:r>
          </a:p>
          <a:p>
            <a:r>
              <a:rPr lang="en-US" sz="1600" b="1" dirty="0"/>
              <a:t>Evidence</a:t>
            </a:r>
            <a:r>
              <a:rPr lang="en-US" sz="1600" dirty="0"/>
              <a:t> — The time series (right) shows </a:t>
            </a:r>
            <a:r>
              <a:rPr lang="en-US" sz="1600" b="1" dirty="0"/>
              <a:t>strong daily cycles</a:t>
            </a:r>
            <a:r>
              <a:rPr lang="en-US" sz="1600" dirty="0"/>
              <a:t> and changing peaks; simple averages fail — we need models that learn </a:t>
            </a:r>
            <a:r>
              <a:rPr lang="en-US" sz="1600" b="1" dirty="0"/>
              <a:t>weekly and hourly structure</a:t>
            </a:r>
            <a:r>
              <a:rPr lang="en-US" sz="1600" dirty="0"/>
              <a:t>.</a:t>
            </a:r>
          </a:p>
        </p:txBody>
      </p:sp>
      <p:pic>
        <p:nvPicPr>
          <p:cNvPr id="10" name="Picture 9" descr="consumption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105" y="1364967"/>
            <a:ext cx="5713817" cy="2239078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C1729C7B-ED05-D63F-CA1D-BC9E01A3C78C}"/>
              </a:ext>
            </a:extLst>
          </p:cNvPr>
          <p:cNvSpPr txBox="1"/>
          <p:nvPr/>
        </p:nvSpPr>
        <p:spPr>
          <a:xfrm>
            <a:off x="6099963" y="1022795"/>
            <a:ext cx="5965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3 months</a:t>
            </a:r>
            <a:r>
              <a:rPr lang="en-US" sz="1200" dirty="0"/>
              <a:t> of real hourly load (Jul–Oct 2025): strong </a:t>
            </a:r>
            <a:r>
              <a:rPr lang="en-US" sz="1200" b="1" dirty="0"/>
              <a:t>daily cycles</a:t>
            </a:r>
            <a:r>
              <a:rPr lang="en-US" sz="1200" dirty="0"/>
              <a:t> and </a:t>
            </a:r>
            <a:r>
              <a:rPr lang="en-US" sz="1200" b="1" dirty="0"/>
              <a:t>week-to-week</a:t>
            </a:r>
            <a:r>
              <a:rPr lang="en-US" sz="1200" dirty="0"/>
              <a:t> variation.</a:t>
            </a:r>
            <a:endParaRPr lang="tr-TR" sz="1200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EA058D93-DD7B-FBA0-1C7B-48207B63854E}"/>
              </a:ext>
            </a:extLst>
          </p:cNvPr>
          <p:cNvSpPr txBox="1"/>
          <p:nvPr/>
        </p:nvSpPr>
        <p:spPr>
          <a:xfrm>
            <a:off x="6226151" y="4080879"/>
            <a:ext cx="59655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Clear </a:t>
            </a:r>
            <a:r>
              <a:rPr lang="en-US" b="1" dirty="0"/>
              <a:t>day/night</a:t>
            </a:r>
            <a:r>
              <a:rPr lang="en-US" dirty="0"/>
              <a:t> and </a:t>
            </a:r>
            <a:r>
              <a:rPr lang="en-US" b="1" dirty="0"/>
              <a:t>weekday/weekend</a:t>
            </a:r>
            <a:r>
              <a:rPr lang="en-US" dirty="0"/>
              <a:t> structure → motivates </a:t>
            </a:r>
            <a:r>
              <a:rPr lang="en-US" b="1" dirty="0"/>
              <a:t>lag</a:t>
            </a:r>
            <a:r>
              <a:rPr lang="en-US" dirty="0"/>
              <a:t> and </a:t>
            </a:r>
            <a:r>
              <a:rPr lang="en-US" b="1" dirty="0"/>
              <a:t>cyclic time</a:t>
            </a:r>
            <a:r>
              <a:rPr lang="en-US" dirty="0"/>
              <a:t> features.</a:t>
            </a:r>
          </a:p>
          <a:p>
            <a:r>
              <a:rPr lang="en-US" dirty="0"/>
              <a:t>Peaks often </a:t>
            </a:r>
            <a:r>
              <a:rPr lang="en-US" b="1" dirty="0"/>
              <a:t>evening hours</a:t>
            </a:r>
            <a:r>
              <a:rPr lang="en-US" dirty="0"/>
              <a:t>; troughs at </a:t>
            </a:r>
            <a:r>
              <a:rPr lang="en-US" b="1" dirty="0"/>
              <a:t>night</a:t>
            </a:r>
            <a:r>
              <a:rPr lang="en-US" dirty="0"/>
              <a:t> — STLF must track </a:t>
            </a:r>
            <a:r>
              <a:rPr lang="en-US" b="1" dirty="0"/>
              <a:t>ramps</a:t>
            </a:r>
            <a:r>
              <a:rPr lang="en-US" dirty="0"/>
              <a:t>, not only averages.</a:t>
            </a:r>
          </a:p>
          <a:p>
            <a:r>
              <a:rPr lang="en-US" dirty="0"/>
              <a:t>Motivation: better forecasts → </a:t>
            </a:r>
            <a:r>
              <a:rPr lang="en-US" b="1" dirty="0"/>
              <a:t>lower imbalance cost</a:t>
            </a:r>
            <a:r>
              <a:rPr lang="en-US" dirty="0"/>
              <a:t> and safer </a:t>
            </a:r>
            <a:r>
              <a:rPr lang="en-US" b="1" dirty="0"/>
              <a:t>grid operations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0096" y="1498148"/>
            <a:ext cx="3771263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00C9A7"/>
                </a:solidFill>
              </a:defRPr>
            </a:pPr>
            <a:r>
              <a:rPr sz="23900" dirty="0"/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2400" y="2598449"/>
            <a:ext cx="8229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tr-TR" sz="9600" dirty="0"/>
              <a:t>EDA &amp; </a:t>
            </a:r>
            <a:r>
              <a:rPr lang="tr-TR" sz="9600" dirty="0" err="1"/>
              <a:t>Pipeline</a:t>
            </a:r>
            <a:endParaRPr lang="tr-TR" sz="9600" dirty="0"/>
          </a:p>
          <a:p>
            <a:pPr algn="l">
              <a:defRPr sz="3400" b="1">
                <a:solidFill>
                  <a:srgbClr val="FFFFFF"/>
                </a:solidFill>
              </a:defRPr>
            </a:pPr>
            <a:r>
              <a:rPr sz="9600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9144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tr-TR" dirty="0" err="1"/>
              <a:t>Dataset</a:t>
            </a:r>
            <a:r>
              <a:rPr lang="tr-TR" dirty="0"/>
              <a:t> &amp; EDA — </a:t>
            </a:r>
            <a:r>
              <a:rPr lang="tr-TR" dirty="0" err="1"/>
              <a:t>Consumption</a:t>
            </a:r>
            <a:r>
              <a:rPr lang="tr-TR" dirty="0"/>
              <a:t> </a:t>
            </a:r>
            <a:r>
              <a:rPr lang="tr-TR" dirty="0" err="1"/>
              <a:t>Patterns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84048" y="5303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</a:defRPr>
            </a:pPr>
            <a:r>
              <a:t>31.07.2025 – 29.10.2025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C9A7"/>
                </a:solidFill>
              </a:defRPr>
            </a:pPr>
            <a:r>
              <a:t>G05 · MEE344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EPİAŞ STLF · Decision Tree + AdaBoost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2609" y="3545799"/>
            <a:ext cx="58173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do we learn from EDA?</a:t>
            </a:r>
            <a:endParaRPr lang="en-US" dirty="0"/>
          </a:p>
          <a:p>
            <a:r>
              <a:rPr lang="en-US" dirty="0"/>
              <a:t>Load is </a:t>
            </a:r>
            <a:r>
              <a:rPr lang="en-US" b="1" dirty="0"/>
              <a:t>strongly periodic</a:t>
            </a:r>
            <a:r>
              <a:rPr lang="en-US" dirty="0"/>
              <a:t>: high during </a:t>
            </a:r>
            <a:r>
              <a:rPr lang="en-US" b="1" dirty="0"/>
              <a:t>daytime weekdays</a:t>
            </a:r>
            <a:r>
              <a:rPr lang="en-US" dirty="0"/>
              <a:t>, lower </a:t>
            </a:r>
            <a:r>
              <a:rPr lang="en-US" b="1" dirty="0"/>
              <a:t>nights</a:t>
            </a:r>
            <a:r>
              <a:rPr lang="en-US" dirty="0"/>
              <a:t> and </a:t>
            </a:r>
            <a:r>
              <a:rPr lang="en-US" b="1" dirty="0"/>
              <a:t>weekends</a:t>
            </a:r>
            <a:r>
              <a:rPr lang="en-US" dirty="0"/>
              <a:t>.</a:t>
            </a:r>
          </a:p>
          <a:p>
            <a:r>
              <a:rPr lang="en-US" b="1" dirty="0"/>
              <a:t>Evening peaks</a:t>
            </a:r>
            <a:r>
              <a:rPr lang="en-US" dirty="0"/>
              <a:t> and </a:t>
            </a:r>
            <a:r>
              <a:rPr lang="en-US" b="1" dirty="0"/>
              <a:t>morning ramps</a:t>
            </a:r>
            <a:r>
              <a:rPr lang="en-US" dirty="0"/>
              <a:t> repeat every day → motivates </a:t>
            </a:r>
            <a:r>
              <a:rPr lang="en-US" b="1" dirty="0"/>
              <a:t>hour cycle</a:t>
            </a:r>
            <a:r>
              <a:rPr lang="en-US" dirty="0"/>
              <a:t> + </a:t>
            </a:r>
            <a:r>
              <a:rPr lang="en-US" b="1" dirty="0"/>
              <a:t>lag_1h / lag_24h / lag_168h</a:t>
            </a:r>
            <a:r>
              <a:rPr lang="en-US" dirty="0"/>
              <a:t>.</a:t>
            </a:r>
          </a:p>
          <a:p>
            <a:r>
              <a:rPr lang="en-US" b="1" dirty="0"/>
              <a:t>Week × hour</a:t>
            </a:r>
            <a:r>
              <a:rPr lang="en-US" dirty="0"/>
              <a:t> structure is stable in the heatmap → weekly seasonality is a core signal.</a:t>
            </a:r>
          </a:p>
          <a:p>
            <a:r>
              <a:rPr lang="en-US" dirty="0"/>
              <a:t>The series shows </a:t>
            </a:r>
            <a:r>
              <a:rPr lang="en-US" b="1" dirty="0"/>
              <a:t>gradual level change</a:t>
            </a:r>
            <a:r>
              <a:rPr lang="en-US" dirty="0"/>
              <a:t> across months → models must generalize on a </a:t>
            </a:r>
            <a:r>
              <a:rPr lang="en-US" b="1" dirty="0"/>
              <a:t>short but real</a:t>
            </a:r>
            <a:r>
              <a:rPr lang="en-US" dirty="0"/>
              <a:t> window, not one flat average.</a:t>
            </a:r>
          </a:p>
        </p:txBody>
      </p:sp>
      <p:pic>
        <p:nvPicPr>
          <p:cNvPr id="10" name="Picture 9" descr="consumption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725" y="913067"/>
            <a:ext cx="6438275" cy="2522972"/>
          </a:xfrm>
          <a:prstGeom prst="rect">
            <a:avLst/>
          </a:prstGeom>
        </p:spPr>
      </p:pic>
      <p:pic>
        <p:nvPicPr>
          <p:cNvPr id="13" name="Picture 9" descr="weekly_heatmap.png">
            <a:extLst>
              <a:ext uri="{FF2B5EF4-FFF2-40B4-BE49-F238E27FC236}">
                <a16:creationId xmlns:a16="http://schemas.microsoft.com/office/drawing/2014/main" id="{49BB90F4-0792-8F17-6AA9-C456CAA91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3067"/>
            <a:ext cx="5707928" cy="2522972"/>
          </a:xfrm>
          <a:prstGeom prst="rect">
            <a:avLst/>
          </a:prstGeom>
        </p:spPr>
      </p:pic>
      <p:sp>
        <p:nvSpPr>
          <p:cNvPr id="14" name="Metin kutusu 13">
            <a:extLst>
              <a:ext uri="{FF2B5EF4-FFF2-40B4-BE49-F238E27FC236}">
                <a16:creationId xmlns:a16="http://schemas.microsoft.com/office/drawing/2014/main" id="{7BEC0A8D-EF43-25C8-6C65-B45880111F34}"/>
              </a:ext>
            </a:extLst>
          </p:cNvPr>
          <p:cNvSpPr txBox="1"/>
          <p:nvPr/>
        </p:nvSpPr>
        <p:spPr>
          <a:xfrm>
            <a:off x="54380" y="3817597"/>
            <a:ext cx="56148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Source:</a:t>
            </a:r>
            <a:r>
              <a:rPr lang="tr-TR" dirty="0"/>
              <a:t> EPİAŞ </a:t>
            </a:r>
            <a:r>
              <a:rPr lang="tr-TR" dirty="0" err="1"/>
              <a:t>Transparency</a:t>
            </a:r>
            <a:r>
              <a:rPr lang="tr-TR" dirty="0"/>
              <a:t> Platform — </a:t>
            </a:r>
            <a:r>
              <a:rPr lang="tr-TR" dirty="0" err="1"/>
              <a:t>real</a:t>
            </a:r>
            <a:r>
              <a:rPr lang="tr-TR" dirty="0"/>
              <a:t>-time </a:t>
            </a:r>
            <a:r>
              <a:rPr lang="tr-TR" b="1" dirty="0" err="1"/>
              <a:t>production</a:t>
            </a:r>
            <a:r>
              <a:rPr lang="tr-TR" b="1" dirty="0"/>
              <a:t> </a:t>
            </a:r>
            <a:r>
              <a:rPr lang="tr-TR" b="1" dirty="0" err="1"/>
              <a:t>by</a:t>
            </a:r>
            <a:r>
              <a:rPr lang="tr-TR" b="1" dirty="0"/>
              <a:t> </a:t>
            </a:r>
            <a:r>
              <a:rPr lang="tr-TR" b="1" dirty="0" err="1"/>
              <a:t>source</a:t>
            </a:r>
            <a:r>
              <a:rPr lang="tr-TR" dirty="0"/>
              <a:t> + </a:t>
            </a:r>
            <a:r>
              <a:rPr lang="tr-TR" b="1" dirty="0" err="1"/>
              <a:t>hourly</a:t>
            </a:r>
            <a:r>
              <a:rPr lang="tr-TR" b="1" dirty="0"/>
              <a:t> </a:t>
            </a:r>
            <a:r>
              <a:rPr lang="tr-TR" b="1" dirty="0" err="1"/>
              <a:t>consumption</a:t>
            </a:r>
            <a:r>
              <a:rPr lang="tr-TR" b="1" dirty="0"/>
              <a:t> (</a:t>
            </a:r>
            <a:r>
              <a:rPr lang="tr-TR" b="1" dirty="0" err="1"/>
              <a:t>MWh</a:t>
            </a:r>
            <a:r>
              <a:rPr lang="tr-TR" b="1" dirty="0"/>
              <a:t>)</a:t>
            </a:r>
            <a:r>
              <a:rPr lang="tr-TR" dirty="0"/>
              <a:t>.</a:t>
            </a:r>
          </a:p>
          <a:p>
            <a:r>
              <a:rPr lang="tr-TR" b="1" dirty="0" err="1"/>
              <a:t>Window</a:t>
            </a:r>
            <a:r>
              <a:rPr lang="tr-TR" b="1" dirty="0"/>
              <a:t>:</a:t>
            </a:r>
            <a:r>
              <a:rPr lang="tr-TR" dirty="0"/>
              <a:t> </a:t>
            </a:r>
            <a:r>
              <a:rPr lang="tr-TR" b="1" dirty="0"/>
              <a:t>31.07.2025 – 29.10.2025</a:t>
            </a:r>
            <a:r>
              <a:rPr lang="tr-TR" dirty="0"/>
              <a:t> (~3 </a:t>
            </a:r>
            <a:r>
              <a:rPr lang="tr-TR" dirty="0" err="1"/>
              <a:t>months</a:t>
            </a:r>
            <a:r>
              <a:rPr lang="tr-TR" dirty="0"/>
              <a:t>), </a:t>
            </a:r>
            <a:r>
              <a:rPr lang="tr-TR" dirty="0" err="1"/>
              <a:t>hourly</a:t>
            </a:r>
            <a:r>
              <a:rPr lang="tr-TR" dirty="0"/>
              <a:t> </a:t>
            </a:r>
            <a:r>
              <a:rPr lang="tr-TR" dirty="0" err="1"/>
              <a:t>granularity</a:t>
            </a:r>
            <a:r>
              <a:rPr lang="tr-TR" dirty="0"/>
              <a:t>.</a:t>
            </a:r>
          </a:p>
          <a:p>
            <a:r>
              <a:rPr lang="tr-TR" b="1" dirty="0" err="1"/>
              <a:t>Target</a:t>
            </a:r>
            <a:r>
              <a:rPr lang="tr-TR" b="1" dirty="0"/>
              <a:t>:</a:t>
            </a:r>
            <a:r>
              <a:rPr lang="tr-TR" dirty="0"/>
              <a:t> </a:t>
            </a:r>
            <a:r>
              <a:rPr lang="tr-TR" dirty="0" err="1"/>
              <a:t>consumption_mwh</a:t>
            </a:r>
            <a:r>
              <a:rPr lang="tr-TR" dirty="0"/>
              <a:t> · </a:t>
            </a:r>
            <a:r>
              <a:rPr lang="tr-TR" b="1" dirty="0"/>
              <a:t>16 </a:t>
            </a:r>
            <a:r>
              <a:rPr lang="tr-TR" b="1" dirty="0" err="1"/>
              <a:t>generation</a:t>
            </a:r>
            <a:r>
              <a:rPr lang="tr-TR" b="1" dirty="0"/>
              <a:t> </a:t>
            </a:r>
            <a:r>
              <a:rPr lang="tr-TR" b="1" dirty="0" err="1"/>
              <a:t>columns</a:t>
            </a:r>
            <a:r>
              <a:rPr lang="tr-TR" dirty="0"/>
              <a:t> </a:t>
            </a:r>
            <a:r>
              <a:rPr lang="tr-TR" dirty="0" err="1"/>
              <a:t>used</a:t>
            </a:r>
            <a:r>
              <a:rPr lang="tr-TR" dirty="0"/>
              <a:t> as </a:t>
            </a:r>
            <a:r>
              <a:rPr lang="tr-TR" dirty="0" err="1"/>
              <a:t>exogenous</a:t>
            </a:r>
            <a:r>
              <a:rPr lang="tr-TR" dirty="0"/>
              <a:t> </a:t>
            </a:r>
            <a:r>
              <a:rPr lang="tr-TR" dirty="0" err="1"/>
              <a:t>inputs</a:t>
            </a:r>
            <a:r>
              <a:rPr lang="tr-TR" dirty="0"/>
              <a:t> (not as </a:t>
            </a:r>
            <a:r>
              <a:rPr lang="tr-TR" dirty="0" err="1"/>
              <a:t>the</a:t>
            </a:r>
            <a:r>
              <a:rPr lang="tr-TR" dirty="0"/>
              <a:t> </a:t>
            </a:r>
            <a:r>
              <a:rPr lang="tr-TR" dirty="0" err="1"/>
              <a:t>prediction</a:t>
            </a:r>
            <a:r>
              <a:rPr lang="tr-TR" dirty="0"/>
              <a:t> </a:t>
            </a:r>
            <a:r>
              <a:rPr lang="tr-TR" dirty="0" err="1"/>
              <a:t>target</a:t>
            </a:r>
            <a:r>
              <a:rPr lang="tr-TR" dirty="0"/>
              <a:t>).</a:t>
            </a:r>
          </a:p>
          <a:p>
            <a:r>
              <a:rPr lang="tr-TR" b="1" dirty="0" err="1"/>
              <a:t>Split</a:t>
            </a:r>
            <a:r>
              <a:rPr lang="tr-TR" b="1" dirty="0"/>
              <a:t>:</a:t>
            </a:r>
            <a:r>
              <a:rPr lang="tr-TR" dirty="0"/>
              <a:t> </a:t>
            </a:r>
            <a:r>
              <a:rPr lang="tr-TR" b="1" dirty="0"/>
              <a:t>1,665 h</a:t>
            </a:r>
            <a:r>
              <a:rPr lang="tr-TR" dirty="0"/>
              <a:t> </a:t>
            </a:r>
            <a:r>
              <a:rPr lang="tr-TR" dirty="0" err="1"/>
              <a:t>train</a:t>
            </a:r>
            <a:r>
              <a:rPr lang="tr-TR" dirty="0"/>
              <a:t> · </a:t>
            </a:r>
            <a:r>
              <a:rPr lang="tr-TR" b="1" dirty="0"/>
              <a:t>336 h</a:t>
            </a:r>
            <a:r>
              <a:rPr lang="tr-TR" dirty="0"/>
              <a:t> test (</a:t>
            </a:r>
            <a:r>
              <a:rPr lang="tr-TR" dirty="0" err="1"/>
              <a:t>last</a:t>
            </a:r>
            <a:r>
              <a:rPr lang="tr-TR" dirty="0"/>
              <a:t> </a:t>
            </a:r>
            <a:r>
              <a:rPr lang="tr-TR" b="1" dirty="0"/>
              <a:t>~14 </a:t>
            </a:r>
            <a:r>
              <a:rPr lang="tr-TR" b="1" dirty="0" err="1"/>
              <a:t>days</a:t>
            </a:r>
            <a:r>
              <a:rPr lang="tr-TR" dirty="0"/>
              <a:t>, time-</a:t>
            </a:r>
            <a:r>
              <a:rPr lang="tr-TR" dirty="0" err="1"/>
              <a:t>ordered</a:t>
            </a:r>
            <a:r>
              <a:rPr lang="tr-TR" dirty="0"/>
              <a:t> </a:t>
            </a:r>
            <a:r>
              <a:rPr lang="tr-TR" dirty="0" err="1"/>
              <a:t>hold-out</a:t>
            </a:r>
            <a:r>
              <a:rPr lang="tr-TR" dirty="0"/>
              <a:t>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432FAB34-E1AC-F817-4698-D6A89302B843}"/>
              </a:ext>
            </a:extLst>
          </p:cNvPr>
          <p:cNvSpPr/>
          <p:nvPr/>
        </p:nvSpPr>
        <p:spPr>
          <a:xfrm>
            <a:off x="294968" y="2470846"/>
            <a:ext cx="5191429" cy="193400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9144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tr-TR" dirty="0"/>
              <a:t>EDA — </a:t>
            </a:r>
            <a:r>
              <a:rPr lang="tr-TR" dirty="0" err="1"/>
              <a:t>Production</a:t>
            </a:r>
            <a:r>
              <a:rPr lang="tr-TR" dirty="0"/>
              <a:t> </a:t>
            </a:r>
            <a:r>
              <a:rPr lang="tr-TR" dirty="0" err="1"/>
              <a:t>Mix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84048" y="530352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8BDF8"/>
                </a:solidFill>
              </a:defRPr>
            </a:pPr>
            <a:r>
              <a:rPr lang="fr-FR" dirty="0" err="1"/>
              <a:t>Fossil</a:t>
            </a:r>
            <a:r>
              <a:rPr lang="fr-FR" dirty="0"/>
              <a:t> Fuels vs. </a:t>
            </a:r>
            <a:r>
              <a:rPr lang="fr-FR" dirty="0" err="1"/>
              <a:t>Renewable</a:t>
            </a:r>
            <a:r>
              <a:rPr lang="fr-FR" dirty="0"/>
              <a:t> Energy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C9A7"/>
                </a:solidFill>
              </a:defRPr>
            </a:pPr>
            <a:r>
              <a:t>G05 · MEE344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EPİAŞ STLF · Decision Tree + AdaBoost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8" y="2501851"/>
            <a:ext cx="512064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 err="1"/>
              <a:t>What</a:t>
            </a:r>
            <a:r>
              <a:rPr lang="tr-TR" b="1" dirty="0"/>
              <a:t> do </a:t>
            </a:r>
            <a:r>
              <a:rPr lang="tr-TR" b="1" dirty="0" err="1"/>
              <a:t>we</a:t>
            </a:r>
            <a:r>
              <a:rPr lang="tr-TR" b="1" dirty="0"/>
              <a:t> </a:t>
            </a:r>
            <a:r>
              <a:rPr lang="tr-TR" b="1" dirty="0" err="1"/>
              <a:t>see</a:t>
            </a:r>
            <a:r>
              <a:rPr lang="tr-TR" b="1" dirty="0"/>
              <a:t>?</a:t>
            </a:r>
          </a:p>
          <a:p>
            <a:r>
              <a:rPr lang="en-US" sz="1600" b="1" dirty="0"/>
              <a:t>Natural gas &amp; coal (lignite) dominate</a:t>
            </a:r>
            <a:r>
              <a:rPr lang="en-US" sz="1600" dirty="0"/>
              <a:t> the average mix — flexible fossil backbone.</a:t>
            </a:r>
          </a:p>
          <a:p>
            <a:r>
              <a:rPr lang="en-US" sz="1600" b="1" dirty="0"/>
              <a:t>Solar rises at midday</a:t>
            </a:r>
            <a:r>
              <a:rPr lang="en-US" sz="1600" dirty="0"/>
              <a:t> — low at night, visible daytime bump in hourly data.</a:t>
            </a:r>
          </a:p>
          <a:p>
            <a:r>
              <a:rPr lang="en-US" sz="1600" b="1" dirty="0"/>
              <a:t>Wind is variable</a:t>
            </a:r>
            <a:r>
              <a:rPr lang="en-US" sz="1600" dirty="0"/>
              <a:t> — meaningful on average but </a:t>
            </a:r>
            <a:r>
              <a:rPr lang="en-US" sz="1600" b="1" dirty="0"/>
              <a:t>unstable hour-to-hour</a:t>
            </a:r>
            <a:r>
              <a:rPr lang="en-US" sz="1600" dirty="0"/>
              <a:t>.</a:t>
            </a:r>
            <a:endParaRPr lang="tr-TR" sz="1600" dirty="0"/>
          </a:p>
          <a:p>
            <a:endParaRPr lang="en-US" sz="1600" dirty="0"/>
          </a:p>
          <a:p>
            <a:br>
              <a:rPr lang="en-US" dirty="0"/>
            </a:br>
            <a:endParaRPr lang="tr-TR" dirty="0"/>
          </a:p>
        </p:txBody>
      </p:sp>
      <p:pic>
        <p:nvPicPr>
          <p:cNvPr id="10" name="Picture 9" descr="production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1005840"/>
            <a:ext cx="5486400" cy="3110917"/>
          </a:xfrm>
          <a:prstGeom prst="rect">
            <a:avLst/>
          </a:prstGeom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9BFA793F-39DE-2595-E0DA-37A463A6A67D}"/>
              </a:ext>
            </a:extLst>
          </p:cNvPr>
          <p:cNvSpPr txBox="1"/>
          <p:nvPr/>
        </p:nvSpPr>
        <p:spPr>
          <a:xfrm>
            <a:off x="6095846" y="4268331"/>
            <a:ext cx="548640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 err="1"/>
              <a:t>Gas</a:t>
            </a:r>
            <a:r>
              <a:rPr lang="tr-TR" sz="1200" b="1" dirty="0"/>
              <a:t> ~10k </a:t>
            </a:r>
            <a:r>
              <a:rPr lang="tr-TR" sz="1200" b="1" dirty="0" err="1"/>
              <a:t>MWh</a:t>
            </a:r>
            <a:r>
              <a:rPr lang="tr-TR" sz="1200" dirty="0"/>
              <a:t> (</a:t>
            </a:r>
            <a:r>
              <a:rPr lang="tr-TR" sz="1200" dirty="0" err="1"/>
              <a:t>avg</a:t>
            </a:r>
            <a:r>
              <a:rPr lang="tr-TR" sz="1200" dirty="0"/>
              <a:t>) </a:t>
            </a:r>
            <a:r>
              <a:rPr lang="tr-TR" sz="1200" dirty="0" err="1"/>
              <a:t>leads</a:t>
            </a:r>
            <a:r>
              <a:rPr lang="tr-TR" sz="1200" dirty="0"/>
              <a:t>; </a:t>
            </a:r>
            <a:r>
              <a:rPr lang="tr-TR" sz="1200" b="1" dirty="0" err="1"/>
              <a:t>wind</a:t>
            </a:r>
            <a:r>
              <a:rPr lang="tr-TR" sz="1200" b="1" dirty="0"/>
              <a:t> &amp; </a:t>
            </a:r>
            <a:r>
              <a:rPr lang="tr-TR" sz="1200" b="1" dirty="0" err="1"/>
              <a:t>lignite</a:t>
            </a:r>
            <a:r>
              <a:rPr lang="tr-TR" sz="1200" b="1" dirty="0"/>
              <a:t> ~5k</a:t>
            </a:r>
            <a:r>
              <a:rPr lang="tr-TR" sz="1200" dirty="0"/>
              <a:t>; </a:t>
            </a:r>
            <a:r>
              <a:rPr lang="tr-TR" sz="1200" b="1" dirty="0" err="1"/>
              <a:t>hydro</a:t>
            </a:r>
            <a:r>
              <a:rPr lang="tr-TR" sz="1200" b="1" dirty="0"/>
              <a:t> ~4k</a:t>
            </a:r>
            <a:r>
              <a:rPr lang="tr-TR" sz="1200" dirty="0"/>
              <a:t>; </a:t>
            </a:r>
            <a:r>
              <a:rPr lang="tr-TR" sz="1200" b="1" dirty="0"/>
              <a:t>solar ~1k</a:t>
            </a:r>
            <a:r>
              <a:rPr lang="tr-TR" sz="1200" dirty="0"/>
              <a:t> on </a:t>
            </a:r>
            <a:r>
              <a:rPr lang="tr-TR" sz="1200" dirty="0" err="1"/>
              <a:t>average</a:t>
            </a:r>
            <a:r>
              <a:rPr lang="tr-TR" sz="1200" dirty="0"/>
              <a:t> but </a:t>
            </a:r>
            <a:r>
              <a:rPr lang="tr-TR" sz="1200" b="1" dirty="0" err="1"/>
              <a:t>timing-critical</a:t>
            </a:r>
            <a:r>
              <a:rPr lang="tr-TR" sz="1200" dirty="0"/>
              <a:t>.</a:t>
            </a:r>
          </a:p>
          <a:p>
            <a:endParaRPr lang="tr-TR" sz="1200" dirty="0"/>
          </a:p>
          <a:p>
            <a:r>
              <a:rPr lang="tr-TR" sz="1200" b="1" dirty="0" err="1"/>
              <a:t>Thermal-heavy</a:t>
            </a:r>
            <a:r>
              <a:rPr lang="tr-TR" sz="1200" b="1" dirty="0"/>
              <a:t> </a:t>
            </a:r>
            <a:r>
              <a:rPr lang="tr-TR" sz="1200" b="1" dirty="0" err="1"/>
              <a:t>system</a:t>
            </a:r>
            <a:r>
              <a:rPr lang="tr-TR" sz="1200" dirty="0"/>
              <a:t> → </a:t>
            </a:r>
            <a:r>
              <a:rPr lang="tr-TR" sz="1200" dirty="0" err="1"/>
              <a:t>load</a:t>
            </a:r>
            <a:r>
              <a:rPr lang="tr-TR" sz="1200" dirty="0"/>
              <a:t> </a:t>
            </a:r>
            <a:r>
              <a:rPr lang="tr-TR" sz="1200" dirty="0" err="1"/>
              <a:t>forecasting</a:t>
            </a:r>
            <a:r>
              <a:rPr lang="tr-TR" sz="1200" dirty="0"/>
              <a:t> </a:t>
            </a:r>
            <a:r>
              <a:rPr lang="tr-TR" sz="1200" dirty="0" err="1"/>
              <a:t>still</a:t>
            </a:r>
            <a:r>
              <a:rPr lang="tr-TR" sz="1200" dirty="0"/>
              <a:t> </a:t>
            </a:r>
            <a:r>
              <a:rPr lang="tr-TR" sz="1200" dirty="0" err="1"/>
              <a:t>driven</a:t>
            </a:r>
            <a:r>
              <a:rPr lang="tr-TR" sz="1200" dirty="0"/>
              <a:t> </a:t>
            </a:r>
            <a:r>
              <a:rPr lang="tr-TR" sz="1200" dirty="0" err="1"/>
              <a:t>mainly</a:t>
            </a:r>
            <a:r>
              <a:rPr lang="tr-TR" sz="1200" dirty="0"/>
              <a:t> </a:t>
            </a:r>
            <a:r>
              <a:rPr lang="tr-TR" sz="1200" dirty="0" err="1"/>
              <a:t>by</a:t>
            </a:r>
            <a:r>
              <a:rPr lang="tr-TR" sz="1200" dirty="0"/>
              <a:t> </a:t>
            </a:r>
            <a:r>
              <a:rPr lang="tr-TR" sz="1200" b="1" dirty="0" err="1"/>
              <a:t>consumption</a:t>
            </a:r>
            <a:r>
              <a:rPr lang="tr-TR" sz="1200" b="1" dirty="0"/>
              <a:t> </a:t>
            </a:r>
            <a:r>
              <a:rPr lang="tr-TR" sz="1200" b="1" dirty="0" err="1"/>
              <a:t>history</a:t>
            </a:r>
            <a:r>
              <a:rPr lang="tr-TR" sz="1200" dirty="0"/>
              <a:t>, but mix </a:t>
            </a:r>
            <a:r>
              <a:rPr lang="tr-TR" sz="1200" dirty="0" err="1"/>
              <a:t>adds</a:t>
            </a:r>
            <a:r>
              <a:rPr lang="tr-TR" sz="1200" dirty="0"/>
              <a:t> </a:t>
            </a:r>
            <a:r>
              <a:rPr lang="tr-TR" sz="1200" b="1" dirty="0" err="1"/>
              <a:t>real-world</a:t>
            </a:r>
            <a:r>
              <a:rPr lang="tr-TR" sz="1200" b="1" dirty="0"/>
              <a:t> </a:t>
            </a:r>
            <a:r>
              <a:rPr lang="tr-TR" sz="1200" b="1" dirty="0" err="1"/>
              <a:t>context</a:t>
            </a:r>
            <a:r>
              <a:rPr lang="tr-TR" sz="1200" dirty="0"/>
              <a:t>.</a:t>
            </a:r>
          </a:p>
          <a:p>
            <a:endParaRPr lang="tr-TR" sz="1200" dirty="0"/>
          </a:p>
          <a:p>
            <a:r>
              <a:rPr lang="tr-TR" sz="1200" b="1" dirty="0" err="1"/>
              <a:t>Renewables</a:t>
            </a:r>
            <a:r>
              <a:rPr lang="tr-TR" sz="1200" dirty="0"/>
              <a:t> </a:t>
            </a:r>
            <a:r>
              <a:rPr lang="tr-TR" sz="1200" dirty="0" err="1"/>
              <a:t>introduce</a:t>
            </a:r>
            <a:r>
              <a:rPr lang="tr-TR" sz="1200" dirty="0"/>
              <a:t> </a:t>
            </a:r>
            <a:r>
              <a:rPr lang="tr-TR" sz="1200" b="1" dirty="0" err="1"/>
              <a:t>ramps</a:t>
            </a:r>
            <a:r>
              <a:rPr lang="tr-TR" sz="1200" dirty="0"/>
              <a:t> (solar </a:t>
            </a:r>
            <a:r>
              <a:rPr lang="tr-TR" sz="1200" dirty="0" err="1"/>
              <a:t>noon</a:t>
            </a:r>
            <a:r>
              <a:rPr lang="tr-TR" sz="1200" dirty="0"/>
              <a:t>, </a:t>
            </a:r>
            <a:r>
              <a:rPr lang="tr-TR" sz="1200" dirty="0" err="1"/>
              <a:t>wind</a:t>
            </a:r>
            <a:r>
              <a:rPr lang="tr-TR" sz="1200" dirty="0"/>
              <a:t> </a:t>
            </a:r>
            <a:r>
              <a:rPr lang="tr-TR" sz="1200" dirty="0" err="1"/>
              <a:t>gusts</a:t>
            </a:r>
            <a:r>
              <a:rPr lang="tr-TR" sz="1200" dirty="0"/>
              <a:t>) — </a:t>
            </a:r>
            <a:r>
              <a:rPr lang="tr-TR" sz="1200" dirty="0" err="1"/>
              <a:t>supports</a:t>
            </a:r>
            <a:r>
              <a:rPr lang="tr-TR" sz="1200" dirty="0"/>
              <a:t> </a:t>
            </a:r>
            <a:r>
              <a:rPr lang="tr-TR" sz="1200" dirty="0" err="1"/>
              <a:t>using</a:t>
            </a:r>
            <a:r>
              <a:rPr lang="tr-TR" sz="1200" dirty="0"/>
              <a:t> </a:t>
            </a:r>
            <a:r>
              <a:rPr lang="tr-TR" sz="1200" b="1" dirty="0" err="1"/>
              <a:t>hourly</a:t>
            </a:r>
            <a:r>
              <a:rPr lang="tr-TR" sz="1200" b="1" dirty="0"/>
              <a:t> </a:t>
            </a:r>
            <a:r>
              <a:rPr lang="tr-TR" sz="1200" b="1" dirty="0" err="1"/>
              <a:t>exogenous</a:t>
            </a:r>
            <a:r>
              <a:rPr lang="tr-TR" sz="1200" b="1" dirty="0"/>
              <a:t> + </a:t>
            </a:r>
            <a:r>
              <a:rPr lang="tr-TR" sz="1200" b="1" dirty="0" err="1"/>
              <a:t>tree</a:t>
            </a:r>
            <a:r>
              <a:rPr lang="tr-TR" sz="1200" b="1" dirty="0"/>
              <a:t> </a:t>
            </a:r>
            <a:r>
              <a:rPr lang="tr-TR" sz="1200" b="1" dirty="0" err="1"/>
              <a:t>models</a:t>
            </a:r>
            <a:r>
              <a:rPr lang="tr-TR" sz="1200" dirty="0"/>
              <a:t>.</a:t>
            </a:r>
          </a:p>
          <a:p>
            <a:endParaRPr lang="tr-TR" sz="1200" dirty="0"/>
          </a:p>
          <a:p>
            <a:r>
              <a:rPr lang="tr-TR" sz="1200" b="1" dirty="0" err="1"/>
              <a:t>We</a:t>
            </a:r>
            <a:r>
              <a:rPr lang="tr-TR" sz="1200" b="1" dirty="0"/>
              <a:t> do not </a:t>
            </a:r>
            <a:r>
              <a:rPr lang="tr-TR" sz="1200" b="1" dirty="0" err="1"/>
              <a:t>predict</a:t>
            </a:r>
            <a:r>
              <a:rPr lang="tr-TR" sz="1200" b="1" dirty="0"/>
              <a:t> </a:t>
            </a:r>
            <a:r>
              <a:rPr lang="tr-TR" sz="1200" b="1" dirty="0" err="1"/>
              <a:t>production</a:t>
            </a:r>
            <a:r>
              <a:rPr lang="tr-TR" sz="1200" b="1" dirty="0"/>
              <a:t> total</a:t>
            </a:r>
            <a:r>
              <a:rPr lang="tr-TR" sz="1200" dirty="0"/>
              <a:t> — </a:t>
            </a:r>
            <a:r>
              <a:rPr lang="tr-TR" sz="1200" dirty="0" err="1"/>
              <a:t>only</a:t>
            </a:r>
            <a:r>
              <a:rPr lang="tr-TR" sz="1200" dirty="0"/>
              <a:t> </a:t>
            </a:r>
            <a:r>
              <a:rPr lang="tr-TR" sz="1200" b="1" dirty="0" err="1"/>
              <a:t>demand</a:t>
            </a:r>
            <a:r>
              <a:rPr lang="tr-TR" sz="1200" dirty="0"/>
              <a:t>, </a:t>
            </a:r>
            <a:r>
              <a:rPr lang="tr-TR" sz="1200" dirty="0" err="1"/>
              <a:t>with</a:t>
            </a:r>
            <a:r>
              <a:rPr lang="tr-TR" sz="1200" dirty="0"/>
              <a:t> </a:t>
            </a:r>
            <a:r>
              <a:rPr lang="tr-TR" sz="1200" dirty="0" err="1"/>
              <a:t>generation</a:t>
            </a:r>
            <a:r>
              <a:rPr lang="tr-TR" sz="1200" dirty="0"/>
              <a:t> </a:t>
            </a:r>
            <a:r>
              <a:rPr lang="tr-TR" sz="1200" dirty="0" err="1"/>
              <a:t>columns</a:t>
            </a:r>
            <a:r>
              <a:rPr lang="tr-TR" sz="1200" dirty="0"/>
              <a:t> as </a:t>
            </a:r>
            <a:r>
              <a:rPr lang="tr-TR" sz="1200" dirty="0" err="1"/>
              <a:t>inputs</a:t>
            </a:r>
            <a:r>
              <a:rPr lang="tr-TR" sz="1200" dirty="0"/>
              <a:t> (</a:t>
            </a:r>
            <a:r>
              <a:rPr lang="tr-TR" sz="1200" b="1" dirty="0" err="1"/>
              <a:t>no</a:t>
            </a:r>
            <a:r>
              <a:rPr lang="tr-TR" sz="1200" b="1" dirty="0"/>
              <a:t> </a:t>
            </a:r>
            <a:r>
              <a:rPr lang="tr-TR" sz="1200" b="1" dirty="0" err="1"/>
              <a:t>target</a:t>
            </a:r>
            <a:r>
              <a:rPr lang="tr-TR" sz="1200" b="1" dirty="0"/>
              <a:t> </a:t>
            </a:r>
            <a:r>
              <a:rPr lang="tr-TR" sz="1200" b="1" dirty="0" err="1"/>
              <a:t>leakage</a:t>
            </a:r>
            <a:r>
              <a:rPr lang="tr-TR" sz="1200" dirty="0"/>
              <a:t>).</a:t>
            </a:r>
          </a:p>
          <a:p>
            <a:br>
              <a:rPr lang="tr-TR" sz="1200" dirty="0"/>
            </a:br>
            <a:endParaRPr lang="tr-TR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7539" y="1543868"/>
            <a:ext cx="4176377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00C9A7"/>
                </a:solidFill>
              </a:defRPr>
            </a:pPr>
            <a:r>
              <a:rPr sz="23900" dirty="0"/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3286" y="2767279"/>
            <a:ext cx="8229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tr-TR" sz="8000" dirty="0" err="1"/>
              <a:t>Features</a:t>
            </a:r>
            <a:r>
              <a:rPr lang="tr-TR" sz="8000" dirty="0"/>
              <a:t> &amp; </a:t>
            </a:r>
            <a:r>
              <a:rPr lang="tr-TR" sz="8000" dirty="0" err="1"/>
              <a:t>Models</a:t>
            </a:r>
            <a:endParaRPr lang="tr-TR" sz="8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9144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tr-TR" dirty="0"/>
              <a:t>Data </a:t>
            </a:r>
            <a:r>
              <a:rPr lang="tr-TR" dirty="0" err="1"/>
              <a:t>Pipeline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84048" y="530352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8BDF8"/>
                </a:solidFill>
              </a:defRPr>
            </a:pPr>
            <a:r>
              <a:rPr lang="tr-TR" dirty="0" err="1"/>
              <a:t>End-to-end</a:t>
            </a:r>
            <a:r>
              <a:rPr lang="tr-TR" dirty="0"/>
              <a:t> </a:t>
            </a:r>
            <a:r>
              <a:rPr lang="tr-TR" dirty="0" err="1"/>
              <a:t>reproducible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C9A7"/>
                </a:solidFill>
              </a:defRPr>
            </a:pPr>
            <a:r>
              <a:t>G05 · MEE344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EPİAŞ STLF · Decision Tree + AdaBoost</a:t>
            </a:r>
          </a:p>
        </p:txBody>
      </p:sp>
      <p:pic>
        <p:nvPicPr>
          <p:cNvPr id="9" name="Picture 8" descr="pipeline_horizontal.png"/>
          <p:cNvPicPr>
            <a:picLocks noChangeAspect="1"/>
          </p:cNvPicPr>
          <p:nvPr/>
        </p:nvPicPr>
        <p:blipFill>
          <a:blip r:embed="rId2"/>
          <a:srcRect t="28269" b="32815"/>
          <a:stretch>
            <a:fillRect/>
          </a:stretch>
        </p:blipFill>
        <p:spPr>
          <a:xfrm>
            <a:off x="335038" y="913066"/>
            <a:ext cx="11423599" cy="1039301"/>
          </a:xfrm>
          <a:prstGeom prst="rect">
            <a:avLst/>
          </a:prstGeom>
        </p:spPr>
      </p:pic>
      <p:graphicFrame>
        <p:nvGraphicFramePr>
          <p:cNvPr id="11" name="Tablo 10">
            <a:extLst>
              <a:ext uri="{FF2B5EF4-FFF2-40B4-BE49-F238E27FC236}">
                <a16:creationId xmlns:a16="http://schemas.microsoft.com/office/drawing/2014/main" id="{8E2B637C-883D-7BA1-DB69-F385399C1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89333"/>
              </p:ext>
            </p:extLst>
          </p:nvPr>
        </p:nvGraphicFramePr>
        <p:xfrm>
          <a:off x="167148" y="3263632"/>
          <a:ext cx="11759381" cy="3292695"/>
        </p:xfrm>
        <a:graphic>
          <a:graphicData uri="http://schemas.openxmlformats.org/drawingml/2006/table">
            <a:tbl>
              <a:tblPr/>
              <a:tblGrid>
                <a:gridCol w="5876180">
                  <a:extLst>
                    <a:ext uri="{9D8B030D-6E8A-4147-A177-3AD203B41FA5}">
                      <a16:colId xmlns:a16="http://schemas.microsoft.com/office/drawing/2014/main" val="3745605083"/>
                    </a:ext>
                  </a:extLst>
                </a:gridCol>
                <a:gridCol w="5883201">
                  <a:extLst>
                    <a:ext uri="{9D8B030D-6E8A-4147-A177-3AD203B41FA5}">
                      <a16:colId xmlns:a16="http://schemas.microsoft.com/office/drawing/2014/main" val="1635969723"/>
                    </a:ext>
                  </a:extLst>
                </a:gridCol>
              </a:tblGrid>
              <a:tr h="41153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b="1" i="1" dirty="0">
                          <a:solidFill>
                            <a:schemeClr val="bg2"/>
                          </a:solidFill>
                          <a:effectLst/>
                        </a:rPr>
                        <a:t>Step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b="1" i="1" dirty="0" err="1">
                          <a:solidFill>
                            <a:schemeClr val="bg2"/>
                          </a:solidFill>
                          <a:effectLst/>
                        </a:rPr>
                        <a:t>Meaning</a:t>
                      </a:r>
                      <a:endParaRPr lang="tr-TR" b="1" i="1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639006"/>
                  </a:ext>
                </a:extLst>
              </a:tr>
              <a:tr h="480193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tr-TR" b="1" i="0" dirty="0">
                          <a:solidFill>
                            <a:schemeClr val="bg2"/>
                          </a:solidFill>
                          <a:effectLst/>
                        </a:rPr>
                        <a:t>EPİAŞ CSV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tr-TR" b="1" i="0">
                          <a:solidFill>
                            <a:schemeClr val="bg2"/>
                          </a:solidFill>
                          <a:effectLst/>
                        </a:rPr>
                        <a:t>Real-time production + consumption export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711299"/>
                  </a:ext>
                </a:extLst>
              </a:tr>
              <a:tr h="480193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tr-TR" b="1" i="0" dirty="0" err="1">
                          <a:solidFill>
                            <a:schemeClr val="bg2"/>
                          </a:solidFill>
                          <a:effectLst/>
                        </a:rPr>
                        <a:t>Parse</a:t>
                      </a:r>
                      <a:r>
                        <a:rPr lang="tr-TR" b="1" i="0" dirty="0">
                          <a:solidFill>
                            <a:schemeClr val="bg2"/>
                          </a:solidFill>
                          <a:effectLst/>
                        </a:rPr>
                        <a:t> &amp; </a:t>
                      </a:r>
                      <a:r>
                        <a:rPr lang="tr-TR" b="1" i="0" dirty="0" err="1">
                          <a:solidFill>
                            <a:schemeClr val="bg2"/>
                          </a:solidFill>
                          <a:effectLst/>
                        </a:rPr>
                        <a:t>Merge</a:t>
                      </a:r>
                      <a:endParaRPr lang="tr-TR" b="1" i="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i="0" dirty="0">
                          <a:solidFill>
                            <a:schemeClr val="bg2"/>
                          </a:solidFill>
                          <a:effectLst/>
                        </a:rPr>
                        <a:t>Turkish locale, timestamps, hourly alignment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886244"/>
                  </a:ext>
                </a:extLst>
              </a:tr>
              <a:tr h="480193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tr-TR" b="1" i="0" dirty="0" err="1">
                          <a:solidFill>
                            <a:schemeClr val="bg2"/>
                          </a:solidFill>
                          <a:effectLst/>
                        </a:rPr>
                        <a:t>Preprocess</a:t>
                      </a:r>
                      <a:endParaRPr lang="tr-TR" b="1" i="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i="0">
                          <a:solidFill>
                            <a:schemeClr val="bg2"/>
                          </a:solidFill>
                          <a:effectLst/>
                        </a:rPr>
                        <a:t>Reindex, outliers (3×IQR), train/test split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876595"/>
                  </a:ext>
                </a:extLst>
              </a:tr>
              <a:tr h="480193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tr-TR" b="1" i="0">
                          <a:solidFill>
                            <a:schemeClr val="bg2"/>
                          </a:solidFill>
                          <a:effectLst/>
                        </a:rPr>
                        <a:t>Features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tr-TR" b="1" i="0" dirty="0">
                          <a:solidFill>
                            <a:schemeClr val="bg2"/>
                          </a:solidFill>
                          <a:effectLst/>
                        </a:rPr>
                        <a:t>26 </a:t>
                      </a:r>
                      <a:r>
                        <a:rPr lang="tr-TR" b="1" i="0" dirty="0" err="1">
                          <a:solidFill>
                            <a:schemeClr val="bg2"/>
                          </a:solidFill>
                          <a:effectLst/>
                        </a:rPr>
                        <a:t>cols</a:t>
                      </a:r>
                      <a:r>
                        <a:rPr lang="tr-TR" b="1" i="0" dirty="0">
                          <a:solidFill>
                            <a:schemeClr val="bg2"/>
                          </a:solidFill>
                          <a:effectLst/>
                        </a:rPr>
                        <a:t>: </a:t>
                      </a:r>
                      <a:r>
                        <a:rPr lang="tr-TR" b="1" i="0" dirty="0" err="1">
                          <a:solidFill>
                            <a:schemeClr val="bg2"/>
                          </a:solidFill>
                          <a:effectLst/>
                        </a:rPr>
                        <a:t>cyclic</a:t>
                      </a:r>
                      <a:r>
                        <a:rPr lang="tr-TR" b="1" i="0" dirty="0">
                          <a:solidFill>
                            <a:schemeClr val="bg2"/>
                          </a:solidFill>
                          <a:effectLst/>
                        </a:rPr>
                        <a:t>, </a:t>
                      </a:r>
                      <a:r>
                        <a:rPr lang="tr-TR" b="1" i="0" dirty="0" err="1">
                          <a:solidFill>
                            <a:schemeClr val="bg2"/>
                          </a:solidFill>
                          <a:effectLst/>
                        </a:rPr>
                        <a:t>lags</a:t>
                      </a:r>
                      <a:r>
                        <a:rPr lang="tr-TR" b="1" i="0" dirty="0">
                          <a:solidFill>
                            <a:schemeClr val="bg2"/>
                          </a:solidFill>
                          <a:effectLst/>
                        </a:rPr>
                        <a:t>, </a:t>
                      </a:r>
                      <a:r>
                        <a:rPr lang="tr-TR" b="1" i="0" dirty="0" err="1">
                          <a:solidFill>
                            <a:schemeClr val="bg2"/>
                          </a:solidFill>
                          <a:effectLst/>
                        </a:rPr>
                        <a:t>rolling</a:t>
                      </a:r>
                      <a:r>
                        <a:rPr lang="tr-TR" b="1" i="0" dirty="0">
                          <a:solidFill>
                            <a:schemeClr val="bg2"/>
                          </a:solidFill>
                          <a:effectLst/>
                        </a:rPr>
                        <a:t>, </a:t>
                      </a:r>
                      <a:r>
                        <a:rPr lang="tr-TR" b="1" i="0" dirty="0" err="1">
                          <a:solidFill>
                            <a:schemeClr val="bg2"/>
                          </a:solidFill>
                          <a:effectLst/>
                        </a:rPr>
                        <a:t>exogenous</a:t>
                      </a:r>
                      <a:endParaRPr lang="tr-TR" b="1" i="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681150"/>
                  </a:ext>
                </a:extLst>
              </a:tr>
              <a:tr h="480193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tr-TR" b="1" i="0">
                          <a:solidFill>
                            <a:schemeClr val="bg2"/>
                          </a:solidFill>
                          <a:effectLst/>
                        </a:rPr>
                        <a:t>GridSearch CV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tr-TR" b="1" i="0" dirty="0" err="1">
                          <a:solidFill>
                            <a:schemeClr val="bg2"/>
                          </a:solidFill>
                          <a:effectLst/>
                        </a:rPr>
                        <a:t>TimeSeriesSplit</a:t>
                      </a:r>
                      <a:r>
                        <a:rPr lang="tr-TR" b="1" i="0" dirty="0">
                          <a:solidFill>
                            <a:schemeClr val="bg2"/>
                          </a:solidFill>
                          <a:effectLst/>
                        </a:rPr>
                        <a:t>(5), </a:t>
                      </a:r>
                      <a:r>
                        <a:rPr lang="tr-TR" b="1" i="0" dirty="0" err="1">
                          <a:solidFill>
                            <a:schemeClr val="bg2"/>
                          </a:solidFill>
                          <a:effectLst/>
                        </a:rPr>
                        <a:t>tune</a:t>
                      </a:r>
                      <a:r>
                        <a:rPr lang="tr-TR" b="1" i="0" dirty="0">
                          <a:solidFill>
                            <a:schemeClr val="bg2"/>
                          </a:solidFill>
                          <a:effectLst/>
                        </a:rPr>
                        <a:t> </a:t>
                      </a:r>
                      <a:r>
                        <a:rPr lang="tr-TR" b="1" i="0" dirty="0" err="1">
                          <a:solidFill>
                            <a:schemeClr val="bg2"/>
                          </a:solidFill>
                          <a:effectLst/>
                        </a:rPr>
                        <a:t>hyperparameters</a:t>
                      </a:r>
                      <a:endParaRPr lang="tr-TR" b="1" i="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425786"/>
                  </a:ext>
                </a:extLst>
              </a:tr>
              <a:tr h="480193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tr-TR" b="1" i="0">
                          <a:solidFill>
                            <a:schemeClr val="bg2"/>
                          </a:solidFill>
                          <a:effectLst/>
                        </a:rPr>
                        <a:t>DT + AdaBoost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i="0" dirty="0">
                          <a:solidFill>
                            <a:schemeClr val="bg2"/>
                          </a:solidFill>
                          <a:effectLst/>
                        </a:rPr>
                        <a:t>Fit both models, save </a:t>
                      </a:r>
                      <a:r>
                        <a:rPr lang="en-US" b="1" i="0" dirty="0" err="1">
                          <a:solidFill>
                            <a:schemeClr val="bg2"/>
                          </a:solidFill>
                          <a:effectLst/>
                        </a:rPr>
                        <a:t>joblib</a:t>
                      </a:r>
                      <a:r>
                        <a:rPr lang="en-US" b="1" i="0" dirty="0">
                          <a:solidFill>
                            <a:schemeClr val="bg2"/>
                          </a:solidFill>
                          <a:effectLst/>
                        </a:rPr>
                        <a:t> + reports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982241"/>
                  </a:ext>
                </a:extLst>
              </a:tr>
            </a:tbl>
          </a:graphicData>
        </a:graphic>
      </p:graphicFrame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5C72B4-F6D2-E46F-D0E7-3D2FE0EAA3BD}"/>
              </a:ext>
            </a:extLst>
          </p:cNvPr>
          <p:cNvSpPr txBox="1"/>
          <p:nvPr/>
        </p:nvSpPr>
        <p:spPr>
          <a:xfrm>
            <a:off x="335038" y="1952367"/>
            <a:ext cx="5732508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tr-TR" sz="1400" b="1" i="0" dirty="0" err="1">
                <a:effectLst/>
                <a:latin typeface="Segoe WPC"/>
              </a:rPr>
              <a:t>Reproducible</a:t>
            </a:r>
            <a:r>
              <a:rPr lang="tr-TR" sz="1400" b="1" i="0" dirty="0">
                <a:effectLst/>
                <a:latin typeface="Segoe WPC"/>
              </a:rPr>
              <a:t>:</a:t>
            </a:r>
            <a:r>
              <a:rPr lang="tr-TR" sz="1400" b="0" i="0" dirty="0">
                <a:effectLst/>
                <a:latin typeface="Segoe WPC"/>
              </a:rPr>
              <a:t> </a:t>
            </a:r>
            <a:r>
              <a:rPr lang="tr-TR" sz="1400" b="0" i="0" dirty="0" err="1">
                <a:effectLst/>
                <a:latin typeface="Courier New" panose="02070309020205020404" pitchFamily="49" charset="0"/>
              </a:rPr>
              <a:t>random_state</a:t>
            </a:r>
            <a:r>
              <a:rPr lang="tr-TR" sz="1400" b="0" i="0" dirty="0">
                <a:effectLst/>
                <a:latin typeface="Courier New" panose="02070309020205020404" pitchFamily="49" charset="0"/>
              </a:rPr>
              <a:t>=42</a:t>
            </a:r>
            <a:r>
              <a:rPr lang="tr-TR" sz="1400" b="0" i="0" dirty="0">
                <a:effectLst/>
                <a:latin typeface="Segoe WPC"/>
              </a:rPr>
              <a:t> · time-</a:t>
            </a:r>
            <a:r>
              <a:rPr lang="tr-TR" sz="1400" b="0" i="0" dirty="0" err="1">
                <a:effectLst/>
                <a:latin typeface="Segoe WPC"/>
              </a:rPr>
              <a:t>ordered</a:t>
            </a:r>
            <a:r>
              <a:rPr lang="tr-TR" sz="1400" b="0" i="0" dirty="0">
                <a:effectLst/>
                <a:latin typeface="Segoe WPC"/>
              </a:rPr>
              <a:t> </a:t>
            </a:r>
            <a:r>
              <a:rPr lang="tr-TR" sz="1400" b="0" i="0" dirty="0" err="1">
                <a:effectLst/>
                <a:latin typeface="Segoe WPC"/>
              </a:rPr>
              <a:t>split</a:t>
            </a:r>
            <a:r>
              <a:rPr lang="tr-TR" sz="1400" b="0" i="0" dirty="0">
                <a:effectLst/>
                <a:latin typeface="Segoe WPC"/>
              </a:rPr>
              <a:t> (</a:t>
            </a:r>
            <a:r>
              <a:rPr lang="tr-TR" sz="1400" b="0" i="0" dirty="0" err="1">
                <a:effectLst/>
                <a:latin typeface="Segoe WPC"/>
              </a:rPr>
              <a:t>no</a:t>
            </a:r>
            <a:r>
              <a:rPr lang="tr-TR" sz="1400" b="0" i="0" dirty="0">
                <a:effectLst/>
                <a:latin typeface="Segoe WPC"/>
              </a:rPr>
              <a:t> </a:t>
            </a:r>
            <a:r>
              <a:rPr lang="tr-TR" sz="1400" b="0" i="0" dirty="0" err="1">
                <a:effectLst/>
                <a:latin typeface="Segoe WPC"/>
              </a:rPr>
              <a:t>shuffle</a:t>
            </a:r>
            <a:r>
              <a:rPr lang="tr-TR" sz="1400" b="0" i="0" dirty="0">
                <a:effectLst/>
                <a:latin typeface="Segoe WPC"/>
              </a:rPr>
              <a:t>). 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tr-TR" sz="1400" b="1" i="0" dirty="0">
                <a:effectLst/>
                <a:latin typeface="Segoe WPC"/>
              </a:rPr>
              <a:t>Time-</a:t>
            </a:r>
            <a:r>
              <a:rPr lang="tr-TR" sz="1400" b="1" i="0" dirty="0" err="1">
                <a:effectLst/>
                <a:latin typeface="Segoe WPC"/>
              </a:rPr>
              <a:t>aware</a:t>
            </a:r>
            <a:r>
              <a:rPr lang="tr-TR" sz="1400" b="1" i="0" dirty="0">
                <a:effectLst/>
                <a:latin typeface="Segoe WPC"/>
              </a:rPr>
              <a:t> CV:</a:t>
            </a:r>
            <a:r>
              <a:rPr lang="tr-TR" sz="1400" b="0" i="0" dirty="0">
                <a:effectLst/>
                <a:latin typeface="Segoe WPC"/>
              </a:rPr>
              <a:t> </a:t>
            </a:r>
            <a:r>
              <a:rPr lang="tr-TR" sz="1400" b="1" i="0" dirty="0" err="1">
                <a:effectLst/>
                <a:latin typeface="Segoe WPC"/>
              </a:rPr>
              <a:t>TimeSeriesSplit</a:t>
            </a:r>
            <a:r>
              <a:rPr lang="tr-TR" sz="1400" b="1" i="0" dirty="0">
                <a:effectLst/>
                <a:latin typeface="Segoe WPC"/>
              </a:rPr>
              <a:t>(5)</a:t>
            </a:r>
            <a:r>
              <a:rPr lang="tr-TR" sz="1400" b="0" i="0" dirty="0">
                <a:effectLst/>
                <a:latin typeface="Segoe WPC"/>
              </a:rPr>
              <a:t> — </a:t>
            </a:r>
            <a:r>
              <a:rPr lang="tr-TR" sz="1400" b="0" i="0" dirty="0" err="1">
                <a:effectLst/>
                <a:latin typeface="Segoe WPC"/>
              </a:rPr>
              <a:t>past</a:t>
            </a:r>
            <a:r>
              <a:rPr lang="tr-TR" sz="1400" b="0" i="0" dirty="0">
                <a:effectLst/>
                <a:latin typeface="Segoe WPC"/>
              </a:rPr>
              <a:t> </a:t>
            </a:r>
            <a:r>
              <a:rPr lang="tr-TR" sz="1400" b="0" i="0" dirty="0" err="1">
                <a:effectLst/>
                <a:latin typeface="Segoe WPC"/>
              </a:rPr>
              <a:t>trains</a:t>
            </a:r>
            <a:r>
              <a:rPr lang="tr-TR" sz="1400" b="0" i="0" dirty="0">
                <a:effectLst/>
                <a:latin typeface="Segoe WPC"/>
              </a:rPr>
              <a:t>, </a:t>
            </a:r>
            <a:r>
              <a:rPr lang="tr-TR" sz="1400" b="0" i="0" dirty="0" err="1">
                <a:effectLst/>
                <a:latin typeface="Segoe WPC"/>
              </a:rPr>
              <a:t>future</a:t>
            </a:r>
            <a:r>
              <a:rPr lang="tr-TR" sz="1400" b="0" i="0" dirty="0">
                <a:effectLst/>
                <a:latin typeface="Segoe WPC"/>
              </a:rPr>
              <a:t> </a:t>
            </a:r>
            <a:r>
              <a:rPr lang="tr-TR" sz="1400" b="0" i="0" dirty="0" err="1">
                <a:effectLst/>
                <a:latin typeface="Segoe WPC"/>
              </a:rPr>
              <a:t>validates</a:t>
            </a:r>
            <a:r>
              <a:rPr lang="tr-TR" sz="1400" b="0" i="0" dirty="0">
                <a:effectLst/>
                <a:latin typeface="Segoe WPC"/>
              </a:rPr>
              <a:t>; </a:t>
            </a:r>
            <a:r>
              <a:rPr lang="tr-TR" sz="1400" b="0" i="0" dirty="0" err="1">
                <a:effectLst/>
                <a:latin typeface="Segoe WPC"/>
              </a:rPr>
              <a:t>no</a:t>
            </a:r>
            <a:r>
              <a:rPr lang="tr-TR" sz="1400" b="0" i="0" dirty="0">
                <a:effectLst/>
                <a:latin typeface="Segoe WPC"/>
              </a:rPr>
              <a:t> </a:t>
            </a:r>
            <a:r>
              <a:rPr lang="tr-TR" sz="1400" b="0" i="0" dirty="0" err="1">
                <a:effectLst/>
                <a:latin typeface="Segoe WPC"/>
              </a:rPr>
              <a:t>leakage</a:t>
            </a:r>
            <a:r>
              <a:rPr lang="tr-TR" sz="1400" b="0" i="0" dirty="0">
                <a:effectLst/>
                <a:latin typeface="Segoe WPC"/>
              </a:rPr>
              <a:t>.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tr-TR" sz="1400" b="1" i="0" dirty="0" err="1">
                <a:effectLst/>
                <a:latin typeface="Segoe WPC"/>
              </a:rPr>
              <a:t>Locale</a:t>
            </a:r>
            <a:r>
              <a:rPr lang="tr-TR" sz="1400" b="1" i="0" dirty="0">
                <a:effectLst/>
                <a:latin typeface="Segoe WPC"/>
              </a:rPr>
              <a:t>:</a:t>
            </a:r>
            <a:r>
              <a:rPr lang="tr-TR" sz="1400" b="0" i="0" dirty="0">
                <a:effectLst/>
                <a:latin typeface="Segoe WPC"/>
              </a:rPr>
              <a:t> </a:t>
            </a:r>
            <a:r>
              <a:rPr lang="tr-TR" sz="1400" b="0" i="0" dirty="0" err="1">
                <a:effectLst/>
                <a:latin typeface="Segoe WPC"/>
              </a:rPr>
              <a:t>Turkish</a:t>
            </a:r>
            <a:r>
              <a:rPr lang="tr-TR" sz="1400" b="0" i="0" dirty="0">
                <a:effectLst/>
                <a:latin typeface="Segoe WPC"/>
              </a:rPr>
              <a:t> </a:t>
            </a:r>
            <a:r>
              <a:rPr lang="tr-TR" sz="1400" b="1" i="0" dirty="0" err="1">
                <a:effectLst/>
                <a:latin typeface="Segoe WPC"/>
              </a:rPr>
              <a:t>decimal</a:t>
            </a:r>
            <a:r>
              <a:rPr lang="tr-TR" sz="1400" b="1" i="0" dirty="0">
                <a:effectLst/>
                <a:latin typeface="Segoe WPC"/>
              </a:rPr>
              <a:t>/</a:t>
            </a:r>
            <a:r>
              <a:rPr lang="tr-TR" sz="1400" b="1" i="0" dirty="0" err="1">
                <a:effectLst/>
                <a:latin typeface="Segoe WPC"/>
              </a:rPr>
              <a:t>date</a:t>
            </a:r>
            <a:r>
              <a:rPr lang="tr-TR" sz="1400" b="0" i="0" dirty="0">
                <a:effectLst/>
                <a:latin typeface="Segoe WPC"/>
              </a:rPr>
              <a:t> </a:t>
            </a:r>
            <a:r>
              <a:rPr lang="tr-TR" sz="1400" b="0" i="0" dirty="0" err="1">
                <a:effectLst/>
                <a:latin typeface="Segoe WPC"/>
              </a:rPr>
              <a:t>parsing</a:t>
            </a:r>
            <a:r>
              <a:rPr lang="tr-TR" sz="1400" b="0" i="0" dirty="0">
                <a:effectLst/>
                <a:latin typeface="Segoe WPC"/>
              </a:rPr>
              <a:t> </a:t>
            </a:r>
            <a:r>
              <a:rPr lang="tr-TR" sz="1400" b="0" i="0" dirty="0" err="1">
                <a:effectLst/>
                <a:latin typeface="Segoe WPC"/>
              </a:rPr>
              <a:t>handled</a:t>
            </a:r>
            <a:r>
              <a:rPr lang="tr-TR" sz="1400" b="0" i="0" dirty="0">
                <a:effectLst/>
                <a:latin typeface="Segoe WPC"/>
              </a:rPr>
              <a:t> in </a:t>
            </a:r>
            <a:r>
              <a:rPr lang="tr-TR" sz="1400" b="0" i="0" dirty="0" err="1">
                <a:effectLst/>
                <a:latin typeface="Segoe WPC"/>
              </a:rPr>
              <a:t>code</a:t>
            </a:r>
            <a:r>
              <a:rPr lang="tr-TR" sz="1400" b="0" i="0" dirty="0">
                <a:effectLst/>
                <a:latin typeface="Segoe WPC"/>
              </a:rPr>
              <a:t>.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02B1833C-547A-F1AC-AEC9-E7913E706B48}"/>
              </a:ext>
            </a:extLst>
          </p:cNvPr>
          <p:cNvSpPr txBox="1"/>
          <p:nvPr/>
        </p:nvSpPr>
        <p:spPr>
          <a:xfrm>
            <a:off x="6173918" y="1889457"/>
            <a:ext cx="6145160" cy="120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tr-TR" sz="1600" b="1" i="0" dirty="0" err="1">
                <a:effectLst/>
                <a:latin typeface="Segoe WPC"/>
              </a:rPr>
              <a:t>Output</a:t>
            </a:r>
            <a:r>
              <a:rPr lang="tr-TR" sz="1600" b="1" i="0" dirty="0">
                <a:effectLst/>
                <a:latin typeface="Segoe WPC"/>
              </a:rPr>
              <a:t>:</a:t>
            </a:r>
            <a:r>
              <a:rPr lang="tr-TR" sz="1600" b="0" i="0" dirty="0">
                <a:effectLst/>
                <a:latin typeface="Segoe WPC"/>
              </a:rPr>
              <a:t> </a:t>
            </a:r>
            <a:r>
              <a:rPr lang="tr-TR" sz="1600" b="0" i="0" dirty="0" err="1">
                <a:effectLst/>
                <a:latin typeface="Courier New" panose="02070309020205020404" pitchFamily="49" charset="0"/>
              </a:rPr>
              <a:t>models</a:t>
            </a:r>
            <a:r>
              <a:rPr lang="tr-TR" sz="1600" b="0" i="0" dirty="0">
                <a:effectLst/>
                <a:latin typeface="Courier New" panose="02070309020205020404" pitchFamily="49" charset="0"/>
              </a:rPr>
              <a:t>/*.</a:t>
            </a:r>
            <a:r>
              <a:rPr lang="tr-TR" sz="1600" b="0" i="0" dirty="0" err="1">
                <a:effectLst/>
                <a:latin typeface="Courier New" panose="02070309020205020404" pitchFamily="49" charset="0"/>
              </a:rPr>
              <a:t>joblib</a:t>
            </a:r>
            <a:r>
              <a:rPr lang="tr-TR" sz="1600" b="0" i="0" dirty="0">
                <a:effectLst/>
                <a:latin typeface="Segoe WPC"/>
              </a:rPr>
              <a:t>, </a:t>
            </a:r>
            <a:r>
              <a:rPr lang="tr-TR" sz="1600" b="0" i="0" dirty="0" err="1">
                <a:effectLst/>
                <a:latin typeface="Courier New" panose="02070309020205020404" pitchFamily="49" charset="0"/>
              </a:rPr>
              <a:t>reports</a:t>
            </a:r>
            <a:r>
              <a:rPr lang="tr-TR" sz="1600" b="0" i="0" dirty="0">
                <a:effectLst/>
                <a:latin typeface="Courier New" panose="02070309020205020404" pitchFamily="49" charset="0"/>
              </a:rPr>
              <a:t>/</a:t>
            </a:r>
            <a:r>
              <a:rPr lang="tr-TR" sz="1600" b="0" i="0" dirty="0" err="1">
                <a:effectLst/>
                <a:latin typeface="Courier New" panose="02070309020205020404" pitchFamily="49" charset="0"/>
              </a:rPr>
              <a:t>metrics.json</a:t>
            </a:r>
            <a:r>
              <a:rPr lang="tr-TR" sz="1600" b="0" i="0" dirty="0">
                <a:effectLst/>
                <a:latin typeface="Segoe WPC"/>
              </a:rPr>
              <a:t>, </a:t>
            </a:r>
            <a:r>
              <a:rPr lang="tr-TR" sz="1600" b="0" i="0" dirty="0" err="1">
                <a:effectLst/>
                <a:latin typeface="Segoe WPC"/>
              </a:rPr>
              <a:t>figures</a:t>
            </a:r>
            <a:r>
              <a:rPr lang="tr-TR" sz="1600" b="0" i="0" dirty="0">
                <a:effectLst/>
                <a:latin typeface="Segoe WPC"/>
              </a:rPr>
              <a:t>, </a:t>
            </a:r>
            <a:r>
              <a:rPr lang="tr-TR" sz="1600" b="0" i="0" dirty="0" err="1">
                <a:effectLst/>
                <a:latin typeface="Segoe WPC"/>
              </a:rPr>
              <a:t>slides</a:t>
            </a:r>
            <a:r>
              <a:rPr lang="tr-TR" sz="1600" b="0" i="0" dirty="0">
                <a:effectLst/>
                <a:latin typeface="Segoe WPC"/>
              </a:rPr>
              <a:t>.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tr-TR" sz="1600" b="1" i="0" dirty="0" err="1">
                <a:effectLst/>
                <a:latin typeface="Segoe WPC"/>
              </a:rPr>
              <a:t>Why</a:t>
            </a:r>
            <a:r>
              <a:rPr lang="tr-TR" sz="1600" b="1" i="0" dirty="0">
                <a:effectLst/>
                <a:latin typeface="Segoe WPC"/>
              </a:rPr>
              <a:t> it </a:t>
            </a:r>
            <a:r>
              <a:rPr lang="tr-TR" sz="1600" b="1" i="0" dirty="0" err="1">
                <a:effectLst/>
                <a:latin typeface="Segoe WPC"/>
              </a:rPr>
              <a:t>matters</a:t>
            </a:r>
            <a:r>
              <a:rPr lang="tr-TR" sz="1600" b="1" i="0" dirty="0">
                <a:effectLst/>
                <a:latin typeface="Segoe WPC"/>
              </a:rPr>
              <a:t>:</a:t>
            </a:r>
            <a:r>
              <a:rPr lang="tr-TR" sz="1600" b="0" i="0" dirty="0">
                <a:effectLst/>
                <a:latin typeface="Segoe WPC"/>
              </a:rPr>
              <a:t> </a:t>
            </a:r>
            <a:r>
              <a:rPr lang="tr-TR" sz="1600" b="0" i="0" dirty="0" err="1">
                <a:effectLst/>
                <a:latin typeface="Segoe WPC"/>
              </a:rPr>
              <a:t>One</a:t>
            </a:r>
            <a:r>
              <a:rPr lang="tr-TR" sz="1600" b="0" i="0" dirty="0">
                <a:effectLst/>
                <a:latin typeface="Segoe WPC"/>
              </a:rPr>
              <a:t> </a:t>
            </a:r>
            <a:r>
              <a:rPr lang="tr-TR" sz="1600" b="0" i="0" dirty="0" err="1">
                <a:effectLst/>
                <a:latin typeface="Segoe WPC"/>
              </a:rPr>
              <a:t>pipeline</a:t>
            </a:r>
            <a:r>
              <a:rPr lang="tr-TR" sz="1600" b="0" i="0" dirty="0">
                <a:effectLst/>
                <a:latin typeface="Segoe WPC"/>
              </a:rPr>
              <a:t> → </a:t>
            </a:r>
            <a:r>
              <a:rPr lang="tr-TR" sz="1600" b="0" i="0" dirty="0" err="1">
                <a:effectLst/>
                <a:latin typeface="Segoe WPC"/>
              </a:rPr>
              <a:t>easy</a:t>
            </a:r>
            <a:r>
              <a:rPr lang="tr-TR" sz="1600" b="0" i="0" dirty="0">
                <a:effectLst/>
                <a:latin typeface="Segoe WPC"/>
              </a:rPr>
              <a:t> </a:t>
            </a:r>
            <a:r>
              <a:rPr lang="tr-TR" sz="1600" b="0" i="0" dirty="0" err="1">
                <a:effectLst/>
                <a:latin typeface="Segoe WPC"/>
              </a:rPr>
              <a:t>to</a:t>
            </a:r>
            <a:r>
              <a:rPr lang="tr-TR" sz="1600" b="0" i="0" dirty="0">
                <a:effectLst/>
                <a:latin typeface="Segoe WPC"/>
              </a:rPr>
              <a:t> </a:t>
            </a:r>
            <a:r>
              <a:rPr lang="tr-TR" sz="1600" b="1" i="0" dirty="0" err="1">
                <a:effectLst/>
                <a:latin typeface="Segoe WPC"/>
              </a:rPr>
              <a:t>defend</a:t>
            </a:r>
            <a:r>
              <a:rPr lang="tr-TR" sz="1600" b="0" i="0" dirty="0">
                <a:effectLst/>
                <a:latin typeface="Segoe WPC"/>
              </a:rPr>
              <a:t>, </a:t>
            </a:r>
            <a:r>
              <a:rPr lang="tr-TR" sz="1600" b="1" i="0" dirty="0">
                <a:effectLst/>
                <a:latin typeface="Segoe WPC"/>
              </a:rPr>
              <a:t>re-</a:t>
            </a:r>
            <a:r>
              <a:rPr lang="tr-TR" sz="1600" b="1" i="0" dirty="0" err="1">
                <a:effectLst/>
                <a:latin typeface="Segoe WPC"/>
              </a:rPr>
              <a:t>run</a:t>
            </a:r>
            <a:r>
              <a:rPr lang="tr-TR" sz="1600" b="0" i="0" dirty="0">
                <a:effectLst/>
                <a:latin typeface="Segoe WPC"/>
              </a:rPr>
              <a:t>, </a:t>
            </a:r>
            <a:r>
              <a:rPr lang="tr-TR" sz="1600" b="0" i="0" dirty="0" err="1">
                <a:effectLst/>
                <a:latin typeface="Segoe WPC"/>
              </a:rPr>
              <a:t>and</a:t>
            </a:r>
            <a:r>
              <a:rPr lang="tr-TR" sz="1600" b="0" i="0" dirty="0">
                <a:effectLst/>
                <a:latin typeface="Segoe WPC"/>
              </a:rPr>
              <a:t> </a:t>
            </a:r>
            <a:r>
              <a:rPr lang="tr-TR" sz="1600" b="1" i="0" dirty="0">
                <a:effectLst/>
                <a:latin typeface="Segoe WPC"/>
              </a:rPr>
              <a:t>demo</a:t>
            </a:r>
            <a:r>
              <a:rPr lang="tr-TR" sz="1600" b="0" i="0" dirty="0">
                <a:effectLst/>
                <a:latin typeface="Segoe WPC"/>
              </a:rPr>
              <a:t> (</a:t>
            </a:r>
            <a:r>
              <a:rPr lang="tr-TR" sz="1600" b="0" i="0" dirty="0" err="1">
                <a:effectLst/>
                <a:latin typeface="Segoe WPC"/>
              </a:rPr>
              <a:t>local</a:t>
            </a:r>
            <a:r>
              <a:rPr lang="tr-TR" sz="1600" b="0" i="0" dirty="0">
                <a:effectLst/>
                <a:latin typeface="Segoe WPC"/>
              </a:rPr>
              <a:t> + </a:t>
            </a:r>
            <a:r>
              <a:rPr lang="tr-TR" sz="1600" b="0" i="0" dirty="0" err="1">
                <a:effectLst/>
                <a:latin typeface="Segoe WPC"/>
              </a:rPr>
              <a:t>Vercel</a:t>
            </a:r>
            <a:r>
              <a:rPr lang="tr-TR" sz="1600" b="0" i="0" dirty="0">
                <a:effectLst/>
                <a:latin typeface="Segoe WPC"/>
              </a:rPr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9144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tr-TR" dirty="0" err="1"/>
              <a:t>Modeling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84048" y="5303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</a:defRPr>
            </a:pPr>
            <a:r>
              <a:t>Decision Tree + AdaBoost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C9A7"/>
                </a:solidFill>
              </a:defRPr>
            </a:pPr>
            <a:r>
              <a:t>G05 · MEE344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EPİAŞ STLF · Decision Tree + AdaBoost</a:t>
            </a:r>
          </a:p>
        </p:txBody>
      </p:sp>
      <p:pic>
        <p:nvPicPr>
          <p:cNvPr id="9" name="Picture 8" descr="weak_to_str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941831"/>
            <a:ext cx="5486400" cy="2404673"/>
          </a:xfrm>
          <a:prstGeom prst="rect">
            <a:avLst/>
          </a:prstGeom>
        </p:spPr>
      </p:pic>
      <p:pic>
        <p:nvPicPr>
          <p:cNvPr id="11" name="Picture 9" descr="cyclic_demo.png">
            <a:extLst>
              <a:ext uri="{FF2B5EF4-FFF2-40B4-BE49-F238E27FC236}">
                <a16:creationId xmlns:a16="http://schemas.microsoft.com/office/drawing/2014/main" id="{E3503533-E18D-C243-F427-2F341FE54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3658181"/>
            <a:ext cx="5486400" cy="2806627"/>
          </a:xfrm>
          <a:prstGeom prst="rect">
            <a:avLst/>
          </a:prstGeom>
        </p:spPr>
      </p:pic>
      <p:graphicFrame>
        <p:nvGraphicFramePr>
          <p:cNvPr id="16" name="Tablo 15">
            <a:extLst>
              <a:ext uri="{FF2B5EF4-FFF2-40B4-BE49-F238E27FC236}">
                <a16:creationId xmlns:a16="http://schemas.microsoft.com/office/drawing/2014/main" id="{86EE8291-8296-3BC6-B9D9-B51CF2903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77638"/>
              </p:ext>
            </p:extLst>
          </p:nvPr>
        </p:nvGraphicFramePr>
        <p:xfrm>
          <a:off x="5882335" y="4097499"/>
          <a:ext cx="6858000" cy="2009628"/>
        </p:xfrm>
        <a:graphic>
          <a:graphicData uri="http://schemas.openxmlformats.org/drawingml/2006/table">
            <a:tbl>
              <a:tblPr/>
              <a:tblGrid>
                <a:gridCol w="3225889">
                  <a:extLst>
                    <a:ext uri="{9D8B030D-6E8A-4147-A177-3AD203B41FA5}">
                      <a16:colId xmlns:a16="http://schemas.microsoft.com/office/drawing/2014/main" val="3228735847"/>
                    </a:ext>
                  </a:extLst>
                </a:gridCol>
                <a:gridCol w="3632111">
                  <a:extLst>
                    <a:ext uri="{9D8B030D-6E8A-4147-A177-3AD203B41FA5}">
                      <a16:colId xmlns:a16="http://schemas.microsoft.com/office/drawing/2014/main" val="1869638936"/>
                    </a:ext>
                  </a:extLst>
                </a:gridCol>
              </a:tblGrid>
              <a:tr h="5024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r-TR" b="1">
                          <a:effectLst/>
                        </a:rPr>
                        <a:t>Decision Tree</a:t>
                      </a:r>
                      <a:endParaRPr lang="tr-TR" b="0"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r-TR" b="1">
                          <a:effectLst/>
                        </a:rPr>
                        <a:t>AdaBoost</a:t>
                      </a:r>
                      <a:endParaRPr lang="tr-TR" b="0"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213603"/>
                  </a:ext>
                </a:extLst>
              </a:tr>
              <a:tr h="502407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>
                          <a:effectLst/>
                        </a:rPr>
                        <a:t>Easy to explain to the jury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tr-TR">
                          <a:effectLst/>
                        </a:rPr>
                        <a:t>Higher accuracy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256688"/>
                  </a:ext>
                </a:extLst>
              </a:tr>
              <a:tr h="502407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>
                          <a:effectLst/>
                        </a:rPr>
                        <a:t>Shows baseline with same data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tr-TR">
                          <a:effectLst/>
                        </a:rPr>
                        <a:t>Combines many small trees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867817"/>
                  </a:ext>
                </a:extLst>
              </a:tr>
              <a:tr h="502407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tr-TR">
                          <a:effectLst/>
                        </a:rPr>
                        <a:t>CV RMSE ~</a:t>
                      </a:r>
                      <a:r>
                        <a:rPr lang="tr-TR" b="1">
                          <a:effectLst/>
                        </a:rPr>
                        <a:t>1,473</a:t>
                      </a:r>
                      <a:r>
                        <a:rPr lang="tr-TR">
                          <a:effectLst/>
                        </a:rPr>
                        <a:t> MWh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tr-TR" dirty="0">
                          <a:effectLst/>
                        </a:rPr>
                        <a:t>CV RMSE ~</a:t>
                      </a:r>
                      <a:r>
                        <a:rPr lang="tr-TR" b="1" dirty="0">
                          <a:effectLst/>
                        </a:rPr>
                        <a:t>1,079</a:t>
                      </a:r>
                      <a:r>
                        <a:rPr lang="tr-TR" dirty="0">
                          <a:effectLst/>
                        </a:rPr>
                        <a:t> </a:t>
                      </a:r>
                      <a:r>
                        <a:rPr lang="tr-TR" dirty="0" err="1">
                          <a:effectLst/>
                        </a:rPr>
                        <a:t>MWh</a:t>
                      </a:r>
                      <a:endParaRPr lang="tr-TR" dirty="0"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674095"/>
                  </a:ext>
                </a:extLst>
              </a:tr>
            </a:tbl>
          </a:graphicData>
        </a:graphic>
      </p:graphicFrame>
      <p:sp>
        <p:nvSpPr>
          <p:cNvPr id="17" name="Rectangle 1">
            <a:extLst>
              <a:ext uri="{FF2B5EF4-FFF2-40B4-BE49-F238E27FC236}">
                <a16:creationId xmlns:a16="http://schemas.microsoft.com/office/drawing/2014/main" id="{D88557CF-723C-3C16-A6C7-121921111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188300"/>
            <a:ext cx="184731" cy="405199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01568" rIns="91440" bIns="2539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TextBox 9">
            <a:extLst>
              <a:ext uri="{FF2B5EF4-FFF2-40B4-BE49-F238E27FC236}">
                <a16:creationId xmlns:a16="http://schemas.microsoft.com/office/drawing/2014/main" id="{D268FB91-2905-5CA0-1F5C-E20920A758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435527"/>
              </p:ext>
            </p:extLst>
          </p:nvPr>
        </p:nvGraphicFramePr>
        <p:xfrm>
          <a:off x="5833872" y="885635"/>
          <a:ext cx="6202680" cy="3138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9033" y="1379502"/>
            <a:ext cx="3713390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00C9A7"/>
                </a:solidFill>
              </a:defRPr>
            </a:pPr>
            <a:r>
              <a:rPr sz="23900" dirty="0"/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04390" y="2321004"/>
            <a:ext cx="82296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rPr lang="tr-TR" sz="13800" dirty="0" err="1"/>
              <a:t>Results</a:t>
            </a:r>
            <a:endParaRPr sz="13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Model Karşılaştırması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303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</a:defRPr>
            </a:pPr>
            <a:r>
              <a:t>Test seti performansı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C9A7"/>
                </a:solidFill>
              </a:defRPr>
            </a:pPr>
            <a:r>
              <a:t>G05 · MEE344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EPİAŞ STLF · Decision Tree + AdaBoost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960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960120"/>
            <a:ext cx="260604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0698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AdaBoost 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30759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F3A"/>
                </a:solidFill>
              </a:defRPr>
            </a:pPr>
            <a:r>
              <a:t>1040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6733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</a:defRPr>
            </a:pPr>
            <a:r>
              <a:t>MWh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960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54680" y="960120"/>
            <a:ext cx="260604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10698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AdaBoost 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30759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F3A"/>
                </a:solidFill>
              </a:defRPr>
            </a:pPr>
            <a:r>
              <a:t>0.951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6733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</a:defRPr>
            </a:pPr>
            <a:r>
              <a:t>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25312" y="960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25312" y="960120"/>
            <a:ext cx="260604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16752" y="10698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DT RMSE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130759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F3A"/>
                </a:solidFill>
              </a:defRPr>
            </a:pPr>
            <a:r>
              <a:t>1311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16733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</a:defRPr>
            </a:pPr>
            <a:r>
              <a:t>MWh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95944" y="960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95944" y="960120"/>
            <a:ext cx="26060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87384" y="10698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MAPE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130759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F3A"/>
                </a:solidFill>
              </a:defRPr>
            </a:pPr>
            <a:r>
              <a:t>1.67%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4" y="16733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</a:defRPr>
            </a:pPr>
            <a:r>
              <a:t>AdaBoost</a:t>
            </a:r>
          </a:p>
        </p:txBody>
      </p:sp>
      <p:pic>
        <p:nvPicPr>
          <p:cNvPr id="29" name="Picture 28" descr="metrics_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087377"/>
            <a:ext cx="10058399" cy="44277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 dirty="0" err="1"/>
              <a:t>Detaylı</a:t>
            </a:r>
            <a:r>
              <a:rPr dirty="0"/>
              <a:t> </a:t>
            </a:r>
            <a:r>
              <a:rPr dirty="0" err="1"/>
              <a:t>Metrik</a:t>
            </a:r>
            <a:r>
              <a:rPr dirty="0"/>
              <a:t> </a:t>
            </a:r>
            <a:r>
              <a:rPr dirty="0" err="1"/>
              <a:t>Tablosu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84048" y="5303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</a:defRPr>
            </a:pPr>
            <a:r>
              <a:t>Hold-out test · 336 saat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C9A7"/>
                </a:solidFill>
              </a:defRPr>
            </a:pPr>
            <a:r>
              <a:t>G05 · MEE344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EPİAŞ STLF · Decision Tree + AdaBoost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" y="1069848"/>
            <a:ext cx="2248143" cy="3657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1088136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87055" y="1069848"/>
            <a:ext cx="2248143" cy="3657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14487" y="1088136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RMSE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1775" y="1069848"/>
            <a:ext cx="2248143" cy="3657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99207" y="1088136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56495" y="1069848"/>
            <a:ext cx="2248143" cy="3657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83927" y="1088136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41215" y="1069848"/>
            <a:ext cx="2248143" cy="3657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68647" y="1088136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" y="1472184"/>
            <a:ext cx="2248143" cy="365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" y="1490472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Naive 1h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87055" y="1472184"/>
            <a:ext cx="2248143" cy="365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14487" y="1490472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1498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71775" y="1472184"/>
            <a:ext cx="2248143" cy="365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99207" y="1490472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1162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56495" y="1472184"/>
            <a:ext cx="2248143" cy="365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83927" y="1490472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0.899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41215" y="1472184"/>
            <a:ext cx="2248143" cy="365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68647" y="1490472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3.19%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" y="1874520"/>
            <a:ext cx="2248143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9768" y="1892808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Seasonal 168h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87055" y="1874520"/>
            <a:ext cx="2248143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14487" y="1892808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1489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71775" y="1874520"/>
            <a:ext cx="2248143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99207" y="1892808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888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56495" y="1874520"/>
            <a:ext cx="2248143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83927" y="1892808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0.900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41215" y="1874520"/>
            <a:ext cx="2248143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68647" y="1892808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2.49%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2336" y="2276856"/>
            <a:ext cx="2248143" cy="365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9768" y="2295144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Decision Tree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87055" y="2276856"/>
            <a:ext cx="2248143" cy="365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14487" y="2295144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1311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71775" y="2276856"/>
            <a:ext cx="2248143" cy="365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99207" y="2295144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833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56495" y="2276856"/>
            <a:ext cx="2248143" cy="365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83927" y="2295144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0.923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41215" y="2276856"/>
            <a:ext cx="2248143" cy="365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568647" y="2295144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</a:defRPr>
            </a:pPr>
            <a:r>
              <a:t>2.38%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2336" y="2679192"/>
            <a:ext cx="2248143" cy="365760"/>
          </a:xfrm>
          <a:prstGeom prst="roundRect">
            <a:avLst/>
          </a:prstGeom>
          <a:solidFill>
            <a:srgbClr val="E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9768" y="2697480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AdaBoost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87055" y="2679192"/>
            <a:ext cx="2248143" cy="365760"/>
          </a:xfrm>
          <a:prstGeom prst="roundRect">
            <a:avLst/>
          </a:prstGeom>
          <a:solidFill>
            <a:srgbClr val="E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14487" y="2697480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1040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71775" y="2679192"/>
            <a:ext cx="2248143" cy="365760"/>
          </a:xfrm>
          <a:prstGeom prst="roundRect">
            <a:avLst/>
          </a:prstGeom>
          <a:solidFill>
            <a:srgbClr val="E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99207" y="2697480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596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56495" y="2679192"/>
            <a:ext cx="2248143" cy="365760"/>
          </a:xfrm>
          <a:prstGeom prst="roundRect">
            <a:avLst/>
          </a:prstGeom>
          <a:solidFill>
            <a:srgbClr val="E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283927" y="2697480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0.951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41215" y="2679192"/>
            <a:ext cx="2248143" cy="365760"/>
          </a:xfrm>
          <a:prstGeom prst="roundRect">
            <a:avLst/>
          </a:prstGeom>
          <a:solidFill>
            <a:srgbClr val="E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568647" y="2697480"/>
            <a:ext cx="2211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1.67%</a:t>
            </a:r>
          </a:p>
        </p:txBody>
      </p:sp>
      <p:sp>
        <p:nvSpPr>
          <p:cNvPr id="60" name="Metin kutusu 59">
            <a:extLst>
              <a:ext uri="{FF2B5EF4-FFF2-40B4-BE49-F238E27FC236}">
                <a16:creationId xmlns:a16="http://schemas.microsoft.com/office/drawing/2014/main" id="{862A8B3D-C7B1-E373-C5FC-6F74D1165F42}"/>
              </a:ext>
            </a:extLst>
          </p:cNvPr>
          <p:cNvSpPr txBox="1"/>
          <p:nvPr/>
        </p:nvSpPr>
        <p:spPr>
          <a:xfrm>
            <a:off x="429768" y="3457968"/>
            <a:ext cx="11236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Test setup:</a:t>
            </a:r>
            <a:r>
              <a:rPr lang="tr-TR" sz="2400" dirty="0"/>
              <a:t> </a:t>
            </a:r>
            <a:r>
              <a:rPr lang="tr-TR" sz="2400" dirty="0" err="1"/>
              <a:t>Last</a:t>
            </a:r>
            <a:r>
              <a:rPr lang="tr-TR" sz="2400" dirty="0"/>
              <a:t> </a:t>
            </a:r>
            <a:r>
              <a:rPr lang="tr-TR" sz="2400" b="1" dirty="0"/>
              <a:t>336 </a:t>
            </a:r>
            <a:r>
              <a:rPr lang="tr-TR" sz="2400" b="1" dirty="0" err="1"/>
              <a:t>hours</a:t>
            </a:r>
            <a:r>
              <a:rPr lang="tr-TR" sz="2400" dirty="0"/>
              <a:t> (~14 </a:t>
            </a:r>
            <a:r>
              <a:rPr lang="tr-TR" sz="2400" dirty="0" err="1"/>
              <a:t>days</a:t>
            </a:r>
            <a:r>
              <a:rPr lang="tr-TR" sz="2400" dirty="0"/>
              <a:t>) </a:t>
            </a:r>
            <a:r>
              <a:rPr lang="tr-TR" sz="2400" dirty="0" err="1"/>
              <a:t>held</a:t>
            </a:r>
            <a:r>
              <a:rPr lang="tr-TR" sz="2400" dirty="0"/>
              <a:t> </a:t>
            </a:r>
            <a:r>
              <a:rPr lang="tr-TR" sz="2400" dirty="0" err="1"/>
              <a:t>out</a:t>
            </a:r>
            <a:r>
              <a:rPr lang="tr-TR" sz="2400" dirty="0"/>
              <a:t>; </a:t>
            </a:r>
            <a:r>
              <a:rPr lang="tr-TR" sz="2400" dirty="0" err="1"/>
              <a:t>models</a:t>
            </a:r>
            <a:r>
              <a:rPr lang="tr-TR" sz="2400" dirty="0"/>
              <a:t> </a:t>
            </a:r>
            <a:r>
              <a:rPr lang="tr-TR" sz="2400" dirty="0" err="1"/>
              <a:t>trained</a:t>
            </a:r>
            <a:r>
              <a:rPr lang="tr-TR" sz="2400" dirty="0"/>
              <a:t> </a:t>
            </a:r>
            <a:r>
              <a:rPr lang="tr-TR" sz="2400" dirty="0" err="1"/>
              <a:t>only</a:t>
            </a:r>
            <a:r>
              <a:rPr lang="tr-TR" sz="2400" dirty="0"/>
              <a:t> on </a:t>
            </a:r>
            <a:r>
              <a:rPr lang="tr-TR" sz="2400" dirty="0" err="1"/>
              <a:t>earlier</a:t>
            </a:r>
            <a:r>
              <a:rPr lang="tr-TR" sz="2400" dirty="0"/>
              <a:t> data.</a:t>
            </a:r>
          </a:p>
          <a:p>
            <a:r>
              <a:rPr lang="tr-TR" sz="2400" b="1" dirty="0" err="1"/>
              <a:t>Baselines</a:t>
            </a:r>
            <a:r>
              <a:rPr lang="tr-TR" sz="2400" b="1" dirty="0"/>
              <a:t>:</a:t>
            </a:r>
            <a:r>
              <a:rPr lang="tr-TR" sz="2400" dirty="0"/>
              <a:t> </a:t>
            </a:r>
            <a:r>
              <a:rPr lang="tr-TR" sz="2400" dirty="0" err="1"/>
              <a:t>Naive</a:t>
            </a:r>
            <a:r>
              <a:rPr lang="tr-TR" sz="2400" dirty="0"/>
              <a:t> 1h </a:t>
            </a:r>
            <a:r>
              <a:rPr lang="tr-TR" sz="2400" dirty="0" err="1"/>
              <a:t>and</a:t>
            </a:r>
            <a:r>
              <a:rPr lang="tr-TR" sz="2400" dirty="0"/>
              <a:t> </a:t>
            </a:r>
            <a:r>
              <a:rPr lang="tr-TR" sz="2400" dirty="0" err="1"/>
              <a:t>Seasonal</a:t>
            </a:r>
            <a:r>
              <a:rPr lang="tr-TR" sz="2400" dirty="0"/>
              <a:t> 168h ~RMSE </a:t>
            </a:r>
            <a:r>
              <a:rPr lang="tr-TR" sz="2400" b="1" dirty="0"/>
              <a:t>1,490 </a:t>
            </a:r>
            <a:r>
              <a:rPr lang="tr-TR" sz="2400" b="1" dirty="0" err="1"/>
              <a:t>MWh</a:t>
            </a:r>
            <a:r>
              <a:rPr lang="tr-TR" sz="2400" dirty="0"/>
              <a:t>, R² </a:t>
            </a:r>
            <a:r>
              <a:rPr lang="tr-TR" sz="2400" b="1" dirty="0"/>
              <a:t>~0.90</a:t>
            </a:r>
            <a:r>
              <a:rPr lang="tr-TR" sz="2400" dirty="0"/>
              <a:t> — </a:t>
            </a:r>
            <a:r>
              <a:rPr lang="tr-TR" sz="2400" dirty="0" err="1"/>
              <a:t>simple</a:t>
            </a:r>
            <a:r>
              <a:rPr lang="tr-TR" sz="2400" dirty="0"/>
              <a:t> </a:t>
            </a:r>
            <a:r>
              <a:rPr lang="tr-TR" sz="2400" dirty="0" err="1"/>
              <a:t>lag</a:t>
            </a:r>
            <a:r>
              <a:rPr lang="tr-TR" sz="2400" dirty="0"/>
              <a:t> </a:t>
            </a:r>
            <a:r>
              <a:rPr lang="tr-TR" sz="2400" dirty="0" err="1"/>
              <a:t>rules</a:t>
            </a:r>
            <a:r>
              <a:rPr lang="tr-TR" sz="2400" dirty="0"/>
              <a:t>.</a:t>
            </a:r>
          </a:p>
          <a:p>
            <a:r>
              <a:rPr lang="tr-TR" sz="2400" b="1" dirty="0" err="1"/>
              <a:t>Decision</a:t>
            </a:r>
            <a:r>
              <a:rPr lang="tr-TR" sz="2400" b="1" dirty="0"/>
              <a:t> </a:t>
            </a:r>
            <a:r>
              <a:rPr lang="tr-TR" sz="2400" b="1" dirty="0" err="1"/>
              <a:t>Tree</a:t>
            </a:r>
            <a:r>
              <a:rPr lang="tr-TR" sz="2400" b="1" dirty="0"/>
              <a:t>:</a:t>
            </a:r>
            <a:r>
              <a:rPr lang="tr-TR" sz="2400" dirty="0"/>
              <a:t> RMSE </a:t>
            </a:r>
            <a:r>
              <a:rPr lang="tr-TR" sz="2400" b="1" dirty="0"/>
              <a:t>1,311 </a:t>
            </a:r>
            <a:r>
              <a:rPr lang="tr-TR" sz="2400" b="1" dirty="0" err="1"/>
              <a:t>MWh</a:t>
            </a:r>
            <a:r>
              <a:rPr lang="tr-TR" sz="2400" dirty="0"/>
              <a:t>, R² </a:t>
            </a:r>
            <a:r>
              <a:rPr lang="tr-TR" sz="2400" b="1" dirty="0"/>
              <a:t>0.923</a:t>
            </a:r>
            <a:r>
              <a:rPr lang="tr-TR" sz="2400" dirty="0"/>
              <a:t> — </a:t>
            </a:r>
            <a:r>
              <a:rPr lang="tr-TR" sz="2400" dirty="0" err="1"/>
              <a:t>clear</a:t>
            </a:r>
            <a:r>
              <a:rPr lang="tr-TR" sz="2400" dirty="0"/>
              <a:t> </a:t>
            </a:r>
            <a:r>
              <a:rPr lang="tr-TR" sz="2400" dirty="0" err="1"/>
              <a:t>gain</a:t>
            </a:r>
            <a:r>
              <a:rPr lang="tr-TR" sz="2400" dirty="0"/>
              <a:t> </a:t>
            </a:r>
            <a:r>
              <a:rPr lang="tr-TR" sz="2400" dirty="0" err="1"/>
              <a:t>over</a:t>
            </a:r>
            <a:r>
              <a:rPr lang="tr-TR" sz="2400" dirty="0"/>
              <a:t> </a:t>
            </a:r>
            <a:r>
              <a:rPr lang="tr-TR" sz="2400" dirty="0" err="1"/>
              <a:t>baselines</a:t>
            </a:r>
            <a:r>
              <a:rPr lang="tr-TR" sz="2400" dirty="0"/>
              <a:t>.</a:t>
            </a:r>
          </a:p>
          <a:p>
            <a:r>
              <a:rPr lang="tr-TR" sz="2400" b="1" dirty="0" err="1"/>
              <a:t>AdaBoost</a:t>
            </a:r>
            <a:r>
              <a:rPr lang="tr-TR" sz="2400" b="1" dirty="0"/>
              <a:t> :</a:t>
            </a:r>
            <a:r>
              <a:rPr lang="tr-TR" sz="2400" dirty="0"/>
              <a:t> RMSE </a:t>
            </a:r>
            <a:r>
              <a:rPr lang="tr-TR" sz="2400" b="1" dirty="0"/>
              <a:t>1,040 </a:t>
            </a:r>
            <a:r>
              <a:rPr lang="tr-TR" sz="2400" b="1" dirty="0" err="1"/>
              <a:t>MWh</a:t>
            </a:r>
            <a:r>
              <a:rPr lang="tr-TR" sz="2400" dirty="0"/>
              <a:t>, MAE </a:t>
            </a:r>
            <a:r>
              <a:rPr lang="tr-TR" sz="2400" b="1" dirty="0"/>
              <a:t>596 </a:t>
            </a:r>
            <a:r>
              <a:rPr lang="tr-TR" sz="2400" b="1" dirty="0" err="1"/>
              <a:t>MWh</a:t>
            </a:r>
            <a:r>
              <a:rPr lang="tr-TR" sz="2400" dirty="0"/>
              <a:t>, R² </a:t>
            </a:r>
            <a:r>
              <a:rPr lang="tr-TR" sz="2400" b="1" dirty="0"/>
              <a:t>0.951</a:t>
            </a:r>
            <a:r>
              <a:rPr lang="tr-TR" sz="2400" dirty="0"/>
              <a:t>, MAPE </a:t>
            </a:r>
            <a:r>
              <a:rPr lang="tr-TR" sz="2400" b="1" dirty="0"/>
              <a:t>1.67%</a:t>
            </a:r>
            <a:r>
              <a:rPr lang="tr-TR" sz="2400" dirty="0"/>
              <a:t> — </a:t>
            </a:r>
            <a:r>
              <a:rPr lang="tr-TR" sz="2400" dirty="0" err="1"/>
              <a:t>lowest</a:t>
            </a:r>
            <a:r>
              <a:rPr lang="tr-TR" sz="2400" dirty="0"/>
              <a:t> </a:t>
            </a:r>
            <a:r>
              <a:rPr lang="tr-TR" sz="2400" dirty="0" err="1"/>
              <a:t>error</a:t>
            </a:r>
            <a:r>
              <a:rPr lang="tr-TR" sz="2400" dirty="0"/>
              <a:t> on </a:t>
            </a:r>
            <a:r>
              <a:rPr lang="tr-TR" sz="2400" dirty="0" err="1"/>
              <a:t>all</a:t>
            </a:r>
            <a:r>
              <a:rPr lang="tr-TR" sz="2400" dirty="0"/>
              <a:t> </a:t>
            </a:r>
            <a:r>
              <a:rPr lang="tr-TR" sz="2400" dirty="0" err="1"/>
              <a:t>metrics</a:t>
            </a:r>
            <a:r>
              <a:rPr lang="tr-TR" sz="2400" dirty="0"/>
              <a:t>.</a:t>
            </a:r>
          </a:p>
          <a:p>
            <a:r>
              <a:rPr lang="tr-TR" sz="2400" b="1" dirty="0" err="1"/>
              <a:t>vs</a:t>
            </a:r>
            <a:r>
              <a:rPr lang="tr-TR" sz="2400" b="1" dirty="0"/>
              <a:t> DT:</a:t>
            </a:r>
            <a:r>
              <a:rPr lang="tr-TR" sz="2400" dirty="0"/>
              <a:t> ~</a:t>
            </a:r>
            <a:r>
              <a:rPr lang="tr-TR" sz="2400" b="1" dirty="0"/>
              <a:t>21%</a:t>
            </a:r>
            <a:r>
              <a:rPr lang="tr-TR" sz="2400" dirty="0"/>
              <a:t> </a:t>
            </a:r>
            <a:r>
              <a:rPr lang="tr-TR" sz="2400" dirty="0" err="1"/>
              <a:t>lower</a:t>
            </a:r>
            <a:r>
              <a:rPr lang="tr-TR" sz="2400" dirty="0"/>
              <a:t> RMSE; ~</a:t>
            </a:r>
            <a:r>
              <a:rPr lang="tr-TR" sz="2400" b="1" dirty="0"/>
              <a:t>28%</a:t>
            </a:r>
            <a:r>
              <a:rPr lang="tr-TR" sz="2400" dirty="0"/>
              <a:t> </a:t>
            </a:r>
            <a:r>
              <a:rPr lang="tr-TR" sz="2400" dirty="0" err="1"/>
              <a:t>lower</a:t>
            </a:r>
            <a:r>
              <a:rPr lang="tr-TR" sz="2400" dirty="0"/>
              <a:t> MAE.</a:t>
            </a:r>
          </a:p>
          <a:p>
            <a:r>
              <a:rPr lang="tr-TR" sz="2400" b="1" dirty="0"/>
              <a:t>Message:</a:t>
            </a:r>
            <a:r>
              <a:rPr lang="tr-TR" sz="2400" dirty="0"/>
              <a:t> </a:t>
            </a:r>
            <a:r>
              <a:rPr lang="tr-TR" sz="2400" dirty="0" err="1"/>
              <a:t>Boosting</a:t>
            </a:r>
            <a:r>
              <a:rPr lang="tr-TR" sz="2400" dirty="0"/>
              <a:t> </a:t>
            </a:r>
            <a:r>
              <a:rPr lang="tr-TR" sz="2400" dirty="0" err="1"/>
              <a:t>improves</a:t>
            </a:r>
            <a:r>
              <a:rPr lang="tr-TR" sz="2400" dirty="0"/>
              <a:t> </a:t>
            </a:r>
            <a:r>
              <a:rPr lang="tr-TR" sz="2400" dirty="0" err="1"/>
              <a:t>the</a:t>
            </a:r>
            <a:r>
              <a:rPr lang="tr-TR" sz="2400" dirty="0"/>
              <a:t> </a:t>
            </a:r>
            <a:r>
              <a:rPr lang="tr-TR" sz="2400" dirty="0" err="1"/>
              <a:t>same</a:t>
            </a:r>
            <a:r>
              <a:rPr lang="tr-TR" sz="2400" dirty="0"/>
              <a:t> </a:t>
            </a:r>
            <a:r>
              <a:rPr lang="tr-TR" sz="2400" dirty="0" err="1"/>
              <a:t>feature</a:t>
            </a:r>
            <a:r>
              <a:rPr lang="tr-TR" sz="2400" dirty="0"/>
              <a:t> set; </a:t>
            </a:r>
            <a:r>
              <a:rPr lang="tr-TR" sz="2400" b="1" dirty="0" err="1"/>
              <a:t>AdaBoost</a:t>
            </a:r>
            <a:r>
              <a:rPr lang="tr-TR" sz="2400" dirty="0"/>
              <a:t> is </a:t>
            </a:r>
            <a:r>
              <a:rPr lang="tr-TR" sz="2400" dirty="0" err="1"/>
              <a:t>our</a:t>
            </a:r>
            <a:r>
              <a:rPr lang="tr-TR" sz="2400" dirty="0"/>
              <a:t> final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Decision Tree &amp; AdaBoost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303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</a:defRPr>
            </a:pPr>
            <a:r>
              <a:t>Test RMSE DT 1311 MWh · AdaBoost 1040 MWh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C9A7"/>
                </a:solidFill>
              </a:defRPr>
            </a:pPr>
            <a:r>
              <a:t>G05 · MEE344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EPİAŞ STLF · Decision Tree + AdaBoost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189" y="886968"/>
            <a:ext cx="5839991" cy="550468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84047" y="2251962"/>
            <a:ext cx="55841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 err="1"/>
              <a:t>Decision</a:t>
            </a:r>
            <a:r>
              <a:rPr lang="tr-TR" b="1" dirty="0"/>
              <a:t> </a:t>
            </a:r>
            <a:r>
              <a:rPr lang="tr-TR" b="1" dirty="0" err="1"/>
              <a:t>Tree</a:t>
            </a:r>
            <a:r>
              <a:rPr lang="tr-TR" b="1" dirty="0"/>
              <a:t>:</a:t>
            </a:r>
            <a:r>
              <a:rPr lang="tr-TR" dirty="0"/>
              <a:t> </a:t>
            </a:r>
            <a:r>
              <a:rPr lang="tr-TR" dirty="0" err="1"/>
              <a:t>Mostly</a:t>
            </a:r>
            <a:r>
              <a:rPr lang="tr-TR" dirty="0"/>
              <a:t> </a:t>
            </a:r>
            <a:r>
              <a:rPr lang="tr-TR" b="1" dirty="0"/>
              <a:t>lag_168h</a:t>
            </a:r>
            <a:r>
              <a:rPr lang="tr-TR" dirty="0"/>
              <a:t> (~81%) — </a:t>
            </a:r>
            <a:r>
              <a:rPr lang="tr-TR" dirty="0" err="1"/>
              <a:t>same</a:t>
            </a:r>
            <a:r>
              <a:rPr lang="tr-TR" dirty="0"/>
              <a:t> </a:t>
            </a:r>
            <a:r>
              <a:rPr lang="tr-TR" dirty="0" err="1"/>
              <a:t>hour</a:t>
            </a:r>
            <a:r>
              <a:rPr lang="tr-TR" dirty="0"/>
              <a:t> </a:t>
            </a:r>
            <a:r>
              <a:rPr lang="tr-TR" dirty="0" err="1"/>
              <a:t>last</a:t>
            </a:r>
            <a:r>
              <a:rPr lang="tr-TR" dirty="0"/>
              <a:t> </a:t>
            </a:r>
            <a:r>
              <a:rPr lang="tr-TR" dirty="0" err="1"/>
              <a:t>week</a:t>
            </a:r>
            <a:r>
              <a:rPr lang="tr-TR" dirty="0"/>
              <a:t>; </a:t>
            </a:r>
            <a:r>
              <a:rPr lang="tr-TR" b="1" dirty="0"/>
              <a:t>lag_1h</a:t>
            </a:r>
            <a:r>
              <a:rPr lang="tr-TR" dirty="0"/>
              <a:t> (~17%) </a:t>
            </a:r>
            <a:r>
              <a:rPr lang="tr-TR" dirty="0" err="1"/>
              <a:t>second</a:t>
            </a:r>
            <a:r>
              <a:rPr lang="tr-TR" dirty="0"/>
              <a:t>. Simple, </a:t>
            </a:r>
            <a:r>
              <a:rPr lang="tr-TR" dirty="0" err="1"/>
              <a:t>interpretable</a:t>
            </a:r>
            <a:r>
              <a:rPr lang="tr-TR" dirty="0"/>
              <a:t> </a:t>
            </a:r>
            <a:r>
              <a:rPr lang="tr-TR" dirty="0" err="1"/>
              <a:t>baseline</a:t>
            </a:r>
            <a:r>
              <a:rPr lang="tr-TR" dirty="0"/>
              <a:t>.</a:t>
            </a:r>
          </a:p>
          <a:p>
            <a:r>
              <a:rPr lang="tr-TR" b="1" dirty="0" err="1"/>
              <a:t>AdaBoost</a:t>
            </a:r>
            <a:r>
              <a:rPr lang="tr-TR" b="1" dirty="0"/>
              <a:t>:</a:t>
            </a:r>
            <a:r>
              <a:rPr lang="tr-TR" dirty="0"/>
              <a:t> </a:t>
            </a:r>
            <a:r>
              <a:rPr lang="tr-TR" b="1" dirty="0"/>
              <a:t>lag_168h</a:t>
            </a:r>
            <a:r>
              <a:rPr lang="tr-TR" dirty="0"/>
              <a:t> (~51%) + </a:t>
            </a:r>
            <a:r>
              <a:rPr lang="tr-TR" b="1" dirty="0"/>
              <a:t>lag_1h</a:t>
            </a:r>
            <a:r>
              <a:rPr lang="tr-TR" dirty="0"/>
              <a:t> (~44%) — </a:t>
            </a:r>
            <a:r>
              <a:rPr lang="tr-TR" dirty="0" err="1"/>
              <a:t>weekly</a:t>
            </a:r>
            <a:r>
              <a:rPr lang="tr-TR" dirty="0"/>
              <a:t> + </a:t>
            </a:r>
            <a:r>
              <a:rPr lang="tr-TR" dirty="0" err="1"/>
              <a:t>hourly</a:t>
            </a:r>
            <a:r>
              <a:rPr lang="tr-TR" dirty="0"/>
              <a:t> </a:t>
            </a:r>
            <a:r>
              <a:rPr lang="tr-TR" dirty="0" err="1"/>
              <a:t>lags</a:t>
            </a:r>
            <a:r>
              <a:rPr lang="tr-TR" dirty="0"/>
              <a:t> </a:t>
            </a:r>
            <a:r>
              <a:rPr lang="tr-TR" dirty="0" err="1"/>
              <a:t>together</a:t>
            </a:r>
            <a:r>
              <a:rPr lang="tr-TR" dirty="0"/>
              <a:t>.</a:t>
            </a:r>
          </a:p>
          <a:p>
            <a:r>
              <a:rPr lang="tr-TR" b="1" dirty="0" err="1"/>
              <a:t>Result</a:t>
            </a:r>
            <a:r>
              <a:rPr lang="tr-TR" b="1" dirty="0"/>
              <a:t>:</a:t>
            </a:r>
            <a:r>
              <a:rPr lang="tr-TR" dirty="0"/>
              <a:t> RMSE </a:t>
            </a:r>
            <a:r>
              <a:rPr lang="tr-TR" b="1" dirty="0"/>
              <a:t>1,311 → 1,040 </a:t>
            </a:r>
            <a:r>
              <a:rPr lang="tr-TR" b="1" dirty="0" err="1"/>
              <a:t>MWh</a:t>
            </a:r>
            <a:r>
              <a:rPr lang="tr-TR" dirty="0"/>
              <a:t>, R² </a:t>
            </a:r>
            <a:r>
              <a:rPr lang="tr-TR" b="1" dirty="0"/>
              <a:t>0.923 → 0.951</a:t>
            </a:r>
            <a:r>
              <a:rPr lang="tr-TR" dirty="0"/>
              <a:t>, MAPE </a:t>
            </a:r>
            <a:r>
              <a:rPr lang="tr-TR" b="1" dirty="0"/>
              <a:t>1.67%</a:t>
            </a:r>
            <a:r>
              <a:rPr lang="tr-TR" dirty="0"/>
              <a:t>.</a:t>
            </a:r>
          </a:p>
          <a:p>
            <a:r>
              <a:rPr lang="tr-TR" b="1" dirty="0" err="1"/>
              <a:t>Takeaway</a:t>
            </a:r>
            <a:r>
              <a:rPr lang="tr-TR" b="1" dirty="0"/>
              <a:t>:</a:t>
            </a:r>
            <a:r>
              <a:rPr lang="tr-TR" dirty="0"/>
              <a:t> </a:t>
            </a:r>
            <a:r>
              <a:rPr lang="tr-TR" dirty="0" err="1"/>
              <a:t>Same</a:t>
            </a:r>
            <a:r>
              <a:rPr lang="tr-TR" dirty="0"/>
              <a:t> </a:t>
            </a:r>
            <a:r>
              <a:rPr lang="tr-TR" dirty="0" err="1"/>
              <a:t>features</a:t>
            </a:r>
            <a:r>
              <a:rPr lang="tr-TR" dirty="0"/>
              <a:t>; </a:t>
            </a:r>
            <a:r>
              <a:rPr lang="tr-TR" dirty="0" err="1"/>
              <a:t>boosting</a:t>
            </a:r>
            <a:r>
              <a:rPr lang="tr-TR" dirty="0"/>
              <a:t> </a:t>
            </a:r>
            <a:r>
              <a:rPr lang="tr-TR" dirty="0" err="1"/>
              <a:t>uses</a:t>
            </a:r>
            <a:r>
              <a:rPr lang="tr-TR" dirty="0"/>
              <a:t> </a:t>
            </a:r>
            <a:r>
              <a:rPr lang="tr-TR" b="1" dirty="0" err="1"/>
              <a:t>both</a:t>
            </a:r>
            <a:r>
              <a:rPr lang="tr-TR" dirty="0"/>
              <a:t> </a:t>
            </a:r>
            <a:r>
              <a:rPr lang="tr-TR" dirty="0" err="1"/>
              <a:t>lags</a:t>
            </a:r>
            <a:r>
              <a:rPr lang="tr-TR" dirty="0"/>
              <a:t> → </a:t>
            </a:r>
            <a:r>
              <a:rPr lang="tr-TR" dirty="0" err="1"/>
              <a:t>better</a:t>
            </a:r>
            <a:r>
              <a:rPr lang="tr-TR" dirty="0"/>
              <a:t> </a:t>
            </a:r>
            <a:r>
              <a:rPr lang="tr-TR" dirty="0" err="1"/>
              <a:t>peaks</a:t>
            </a:r>
            <a:r>
              <a:rPr lang="tr-TR" dirty="0"/>
              <a:t>, </a:t>
            </a:r>
            <a:r>
              <a:rPr lang="tr-TR" dirty="0" err="1"/>
              <a:t>lower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.</a:t>
            </a:r>
          </a:p>
          <a:p>
            <a:r>
              <a:rPr lang="tr-TR" dirty="0"/>
              <a:t>Solar / time </a:t>
            </a:r>
            <a:r>
              <a:rPr lang="tr-TR" dirty="0" err="1"/>
              <a:t>features</a:t>
            </a:r>
            <a:r>
              <a:rPr lang="tr-TR" dirty="0"/>
              <a:t>: </a:t>
            </a:r>
            <a:r>
              <a:rPr lang="tr-TR" dirty="0" err="1"/>
              <a:t>small</a:t>
            </a:r>
            <a:r>
              <a:rPr lang="tr-TR" dirty="0"/>
              <a:t> MDI; </a:t>
            </a:r>
            <a:r>
              <a:rPr lang="tr-TR" b="1" dirty="0" err="1"/>
              <a:t>history</a:t>
            </a:r>
            <a:r>
              <a:rPr lang="tr-TR" b="1" dirty="0"/>
              <a:t> </a:t>
            </a:r>
            <a:r>
              <a:rPr lang="tr-TR" b="1" dirty="0" err="1"/>
              <a:t>drives</a:t>
            </a:r>
            <a:r>
              <a:rPr lang="tr-TR" dirty="0"/>
              <a:t> 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forecast</a:t>
            </a:r>
            <a:r>
              <a:rPr lang="tr-TR" dirty="0"/>
              <a:t>.</a:t>
            </a:r>
          </a:p>
        </p:txBody>
      </p:sp>
      <p:pic>
        <p:nvPicPr>
          <p:cNvPr id="11" name="Picture 10" descr="dt_ada_importance_panel.png"/>
          <p:cNvPicPr>
            <a:picLocks noChangeAspect="1"/>
          </p:cNvPicPr>
          <p:nvPr/>
        </p:nvPicPr>
        <p:blipFill>
          <a:blip r:embed="rId2"/>
          <a:srcRect t="6030" b="5435"/>
          <a:stretch>
            <a:fillRect/>
          </a:stretch>
        </p:blipFill>
        <p:spPr>
          <a:xfrm>
            <a:off x="6095847" y="886968"/>
            <a:ext cx="6102391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9144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 lang="tr-TR" dirty="0" err="1"/>
              <a:t>Quality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84048" y="530352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</a:defRPr>
            </a:pPr>
            <a:r>
              <a:rPr dirty="0"/>
              <a:t>14 </a:t>
            </a:r>
            <a:r>
              <a:rPr lang="tr-TR" dirty="0" err="1"/>
              <a:t>days</a:t>
            </a:r>
            <a:r>
              <a:rPr dirty="0"/>
              <a:t> hold-out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C9A7"/>
                </a:solidFill>
              </a:defRPr>
            </a:pPr>
            <a:r>
              <a:t>G05 · MEE344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EPİAŞ STLF · Decision Tree + AdaBoost</a:t>
            </a:r>
          </a:p>
        </p:txBody>
      </p:sp>
      <p:pic>
        <p:nvPicPr>
          <p:cNvPr id="9" name="Picture 8" descr="actual_vs_pred_bo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2804"/>
            <a:ext cx="8182187" cy="4003117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F8564B17-BF51-84F0-DCE3-F983C106604D}"/>
              </a:ext>
            </a:extLst>
          </p:cNvPr>
          <p:cNvSpPr txBox="1"/>
          <p:nvPr/>
        </p:nvSpPr>
        <p:spPr>
          <a:xfrm>
            <a:off x="8182187" y="1002804"/>
            <a:ext cx="400981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this shows:</a:t>
            </a:r>
            <a:r>
              <a:rPr lang="en-US" dirty="0"/>
              <a:t> Last </a:t>
            </a:r>
            <a:r>
              <a:rPr lang="en-US" b="1" dirty="0"/>
              <a:t>14 days</a:t>
            </a:r>
            <a:r>
              <a:rPr lang="en-US" dirty="0"/>
              <a:t> of the test set — </a:t>
            </a:r>
            <a:r>
              <a:rPr lang="en-US" b="1" dirty="0"/>
              <a:t>actual</a:t>
            </a:r>
            <a:r>
              <a:rPr lang="en-US" dirty="0"/>
              <a:t> hourly load (gray) vs </a:t>
            </a:r>
            <a:r>
              <a:rPr lang="en-US" b="1" dirty="0"/>
              <a:t>model forecast</a:t>
            </a:r>
            <a:r>
              <a:rPr lang="en-US" dirty="0"/>
              <a:t> (blue / teal).</a:t>
            </a:r>
          </a:p>
          <a:p>
            <a:r>
              <a:rPr lang="en-US" b="1" dirty="0"/>
              <a:t>Decision Tree (top):</a:t>
            </a:r>
            <a:r>
              <a:rPr lang="en-US" dirty="0"/>
              <a:t> Tracks </a:t>
            </a:r>
            <a:r>
              <a:rPr lang="en-US" b="1" dirty="0"/>
              <a:t>daily cycles</a:t>
            </a:r>
            <a:r>
              <a:rPr lang="en-US" dirty="0"/>
              <a:t> (morning ramp, evening peak) well; some </a:t>
            </a:r>
            <a:r>
              <a:rPr lang="en-US" b="1" dirty="0"/>
              <a:t>peak overshoot</a:t>
            </a:r>
            <a:r>
              <a:rPr lang="en-US" dirty="0"/>
              <a:t> and error at the </a:t>
            </a:r>
            <a:r>
              <a:rPr lang="en-US" b="1" dirty="0"/>
              <a:t>end of the window</a:t>
            </a:r>
            <a:r>
              <a:rPr lang="en-US" dirty="0"/>
              <a:t> (e.g. Oct 29 drop).</a:t>
            </a:r>
          </a:p>
          <a:p>
            <a:r>
              <a:rPr lang="en-US" b="1" dirty="0"/>
              <a:t>AdaBoost (bottom):</a:t>
            </a:r>
            <a:r>
              <a:rPr lang="en-US" dirty="0"/>
              <a:t> </a:t>
            </a:r>
            <a:r>
              <a:rPr lang="en-US" b="1" dirty="0"/>
              <a:t>Closer fit</a:t>
            </a:r>
            <a:r>
              <a:rPr lang="en-US" dirty="0"/>
              <a:t> on peaks and dips; same weekly pattern, </a:t>
            </a:r>
            <a:r>
              <a:rPr lang="en-US" b="1" dirty="0"/>
              <a:t>smaller gap</a:t>
            </a:r>
            <a:r>
              <a:rPr lang="en-US" dirty="0"/>
              <a:t> to actual — matches lower RMSE in the table.</a:t>
            </a:r>
          </a:p>
          <a:p>
            <a:r>
              <a:rPr lang="en-US" b="1" dirty="0"/>
              <a:t>Pattern:</a:t>
            </a:r>
            <a:r>
              <a:rPr lang="en-US" dirty="0"/>
              <a:t> Both capture </a:t>
            </a:r>
            <a:r>
              <a:rPr lang="en-US" b="1" dirty="0"/>
              <a:t>weekday rhythm</a:t>
            </a:r>
            <a:r>
              <a:rPr lang="en-US" dirty="0"/>
              <a:t>; hardest points = </a:t>
            </a:r>
            <a:r>
              <a:rPr lang="en-US" b="1" dirty="0"/>
              <a:t>steep ramps</a:t>
            </a:r>
            <a:r>
              <a:rPr lang="en-US" dirty="0"/>
              <a:t> and </a:t>
            </a:r>
            <a:r>
              <a:rPr lang="en-US" b="1" dirty="0"/>
              <a:t>sharp drops</a:t>
            </a:r>
            <a:r>
              <a:rPr lang="en-US" dirty="0"/>
              <a:t> (holidays / end-of-series).</a:t>
            </a:r>
          </a:p>
          <a:p>
            <a:r>
              <a:rPr lang="en-US" b="1" dirty="0"/>
              <a:t>Takeaway:</a:t>
            </a:r>
            <a:r>
              <a:rPr lang="en-US" dirty="0"/>
              <a:t> Visual proof that boosting </a:t>
            </a:r>
            <a:r>
              <a:rPr lang="en-US" b="1" dirty="0"/>
              <a:t>refines</a:t>
            </a:r>
            <a:r>
              <a:rPr lang="en-US" dirty="0"/>
              <a:t> the same lags — not a different dataset, </a:t>
            </a:r>
            <a:r>
              <a:rPr lang="en-US" b="1" dirty="0"/>
              <a:t>better tracking</a:t>
            </a:r>
            <a:r>
              <a:rPr lang="en-US" dirty="0"/>
              <a:t> on hold-out.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66DB6D59-7E0F-C729-2BEE-587AD59EA159}"/>
              </a:ext>
            </a:extLst>
          </p:cNvPr>
          <p:cNvSpPr txBox="1"/>
          <p:nvPr/>
        </p:nvSpPr>
        <p:spPr>
          <a:xfrm>
            <a:off x="233164" y="5036999"/>
            <a:ext cx="77158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are we looking at?</a:t>
            </a:r>
            <a:endParaRPr lang="en-US" dirty="0"/>
          </a:p>
          <a:p>
            <a:r>
              <a:rPr lang="en-US" dirty="0"/>
              <a:t>Not the forecast target — </a:t>
            </a:r>
            <a:r>
              <a:rPr lang="en-US" b="1" dirty="0"/>
              <a:t>how electricity is produced</a:t>
            </a:r>
            <a:r>
              <a:rPr lang="en-US" dirty="0"/>
              <a:t> in the same EPİAŞ window. We use these series as </a:t>
            </a:r>
            <a:r>
              <a:rPr lang="en-US" b="1" dirty="0"/>
              <a:t>exogenous features</a:t>
            </a:r>
            <a:r>
              <a:rPr lang="en-US" dirty="0"/>
              <a:t> for </a:t>
            </a:r>
            <a:r>
              <a:rPr lang="en-US" b="1" dirty="0"/>
              <a:t>consumption</a:t>
            </a:r>
            <a:r>
              <a:rPr lang="en-US" dirty="0"/>
              <a:t> forecasting (G05: Decision Tree + AdaBoost). The mix explains </a:t>
            </a:r>
            <a:r>
              <a:rPr lang="en-US" b="1" dirty="0"/>
              <a:t>when</a:t>
            </a:r>
            <a:r>
              <a:rPr lang="en-US" dirty="0"/>
              <a:t> the system is thermal-heavy vs. renewable-heavy.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8441" y="1726746"/>
            <a:ext cx="3981475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00C9A7"/>
                </a:solidFill>
              </a:defRPr>
            </a:pPr>
            <a:r>
              <a:rPr sz="23900" dirty="0"/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2095" y="2888602"/>
            <a:ext cx="8229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tr-TR" sz="8800" dirty="0" err="1"/>
              <a:t>Review</a:t>
            </a:r>
            <a:r>
              <a:rPr lang="tr-TR" sz="8800" dirty="0"/>
              <a:t> &amp; Demo</a:t>
            </a:r>
            <a:endParaRPr sz="8800" dirty="0"/>
          </a:p>
        </p:txBody>
      </p:sp>
      <p:sp>
        <p:nvSpPr>
          <p:cNvPr id="5" name="TextBox 4"/>
          <p:cNvSpPr txBox="1"/>
          <p:nvPr/>
        </p:nvSpPr>
        <p:spPr>
          <a:xfrm>
            <a:off x="7194265" y="4335153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</a:defRPr>
            </a:pPr>
            <a:r>
              <a:rPr dirty="0"/>
              <a:t>Importance · Web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9144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tr-TR" dirty="0" err="1"/>
              <a:t>Interpretation</a:t>
            </a:r>
            <a:r>
              <a:rPr lang="tr-TR" dirty="0"/>
              <a:t> &amp; </a:t>
            </a:r>
            <a:r>
              <a:rPr lang="tr-TR" dirty="0" err="1"/>
              <a:t>Error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84048" y="5303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</a:defRPr>
            </a:pPr>
            <a:r>
              <a:t>Feature importance · residual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C9A7"/>
                </a:solidFill>
              </a:defRPr>
            </a:pPr>
            <a:r>
              <a:t>G05 · MEE344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EPİAŞ STLF · Decision Tree + AdaBoost</a:t>
            </a:r>
          </a:p>
        </p:txBody>
      </p:sp>
      <p:pic>
        <p:nvPicPr>
          <p:cNvPr id="10" name="Picture 9" descr="residual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941832"/>
            <a:ext cx="5839989" cy="2718454"/>
          </a:xfrm>
          <a:prstGeom prst="rect">
            <a:avLst/>
          </a:prstGeom>
        </p:spPr>
      </p:pic>
      <p:pic>
        <p:nvPicPr>
          <p:cNvPr id="11" name="Picture 8" descr="metrics_rmse_comparison.png">
            <a:extLst>
              <a:ext uri="{FF2B5EF4-FFF2-40B4-BE49-F238E27FC236}">
                <a16:creationId xmlns:a16="http://schemas.microsoft.com/office/drawing/2014/main" id="{9B1069F1-4871-2EEF-3FDA-3A96CF6CE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12" y="3462890"/>
            <a:ext cx="5839987" cy="2794710"/>
          </a:xfrm>
          <a:prstGeom prst="rect">
            <a:avLst/>
          </a:prstGeom>
        </p:spPr>
      </p:pic>
      <p:sp>
        <p:nvSpPr>
          <p:cNvPr id="15" name="Metin kutusu 14">
            <a:extLst>
              <a:ext uri="{FF2B5EF4-FFF2-40B4-BE49-F238E27FC236}">
                <a16:creationId xmlns:a16="http://schemas.microsoft.com/office/drawing/2014/main" id="{6FFE7677-5C9F-0AA3-2DDA-CFD36BA43D52}"/>
              </a:ext>
            </a:extLst>
          </p:cNvPr>
          <p:cNvSpPr txBox="1"/>
          <p:nvPr/>
        </p:nvSpPr>
        <p:spPr>
          <a:xfrm>
            <a:off x="523977" y="1032115"/>
            <a:ext cx="53040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i="1" dirty="0"/>
              <a:t>Test RMSE </a:t>
            </a:r>
            <a:r>
              <a:rPr lang="tr-TR" b="1" i="1" dirty="0" err="1"/>
              <a:t>Comparison</a:t>
            </a:r>
            <a:endParaRPr lang="tr-TR" b="1" dirty="0"/>
          </a:p>
          <a:p>
            <a:endParaRPr lang="en-US" dirty="0"/>
          </a:p>
          <a:p>
            <a:r>
              <a:rPr lang="en-US" dirty="0"/>
              <a:t>Naive / seasonal ~</a:t>
            </a:r>
            <a:r>
              <a:rPr lang="en-US" b="1" dirty="0"/>
              <a:t>1,490 MWh</a:t>
            </a:r>
            <a:r>
              <a:rPr lang="en-US" dirty="0"/>
              <a:t> — simple lag baselines.</a:t>
            </a:r>
          </a:p>
          <a:p>
            <a:r>
              <a:rPr lang="en-US" dirty="0"/>
              <a:t>Decision Tree </a:t>
            </a:r>
            <a:r>
              <a:rPr lang="en-US" b="1" dirty="0"/>
              <a:t>1,311</a:t>
            </a:r>
            <a:r>
              <a:rPr lang="en-US" dirty="0"/>
              <a:t> — clear improvement.</a:t>
            </a:r>
          </a:p>
          <a:p>
            <a:r>
              <a:rPr lang="en-US" b="1" dirty="0"/>
              <a:t>AdaBoost 1,040</a:t>
            </a:r>
            <a:r>
              <a:rPr lang="en-US" dirty="0"/>
              <a:t> — ~</a:t>
            </a:r>
            <a:r>
              <a:rPr lang="en-US" b="1" dirty="0"/>
              <a:t>21%</a:t>
            </a:r>
            <a:r>
              <a:rPr lang="en-US" dirty="0"/>
              <a:t> lower RMSE than DT; our </a:t>
            </a:r>
            <a:r>
              <a:rPr lang="en-US" b="1" dirty="0"/>
              <a:t>final model</a:t>
            </a:r>
            <a:r>
              <a:rPr lang="en-US" dirty="0"/>
              <a:t>.</a:t>
            </a:r>
          </a:p>
          <a:p>
            <a:endParaRPr lang="tr-TR" dirty="0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6A49AAF1-FA49-1B22-8F55-28999AA2CAEB}"/>
              </a:ext>
            </a:extLst>
          </p:cNvPr>
          <p:cNvSpPr txBox="1"/>
          <p:nvPr/>
        </p:nvSpPr>
        <p:spPr>
          <a:xfrm>
            <a:off x="6363965" y="3660286"/>
            <a:ext cx="56737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AdaBoost — Mean residual by hour</a:t>
            </a:r>
            <a:endParaRPr lang="tr-TR" b="1" i="1" dirty="0"/>
          </a:p>
          <a:p>
            <a:endParaRPr lang="en-US" b="1" dirty="0"/>
          </a:p>
          <a:p>
            <a:r>
              <a:rPr lang="en-US" b="1" dirty="0"/>
              <a:t>Under-predicts (~08:00, ~12:00):</a:t>
            </a:r>
            <a:r>
              <a:rPr lang="en-US" dirty="0"/>
              <a:t> morning ramp / midday — actual load </a:t>
            </a:r>
            <a:r>
              <a:rPr lang="en-US" b="1" dirty="0"/>
              <a:t>higher</a:t>
            </a:r>
            <a:r>
              <a:rPr lang="en-US" dirty="0"/>
              <a:t> than forecast.</a:t>
            </a:r>
          </a:p>
          <a:p>
            <a:r>
              <a:rPr lang="en-US" b="1" dirty="0"/>
              <a:t>Over-predicts (~14:00–18:00):</a:t>
            </a:r>
            <a:r>
              <a:rPr lang="en-US" dirty="0"/>
              <a:t> afternoon–</a:t>
            </a:r>
            <a:r>
              <a:rPr lang="en-US" b="1" dirty="0"/>
              <a:t>evening peak</a:t>
            </a:r>
            <a:r>
              <a:rPr lang="en-US" dirty="0"/>
              <a:t> — forecast </a:t>
            </a:r>
            <a:r>
              <a:rPr lang="en-US" b="1" dirty="0"/>
              <a:t>too high</a:t>
            </a:r>
            <a:r>
              <a:rPr lang="en-US" dirty="0"/>
              <a:t>.</a:t>
            </a:r>
          </a:p>
          <a:p>
            <a:r>
              <a:rPr lang="en-US" b="1" dirty="0"/>
              <a:t>Near zero (night 00–04, 22–23):</a:t>
            </a:r>
            <a:r>
              <a:rPr lang="en-US" dirty="0"/>
              <a:t> stable low load — </a:t>
            </a:r>
            <a:r>
              <a:rPr lang="en-US" b="1" dirty="0"/>
              <a:t>easiest</a:t>
            </a:r>
            <a:r>
              <a:rPr lang="en-US" dirty="0"/>
              <a:t> hours.</a:t>
            </a:r>
          </a:p>
          <a:p>
            <a:r>
              <a:rPr lang="en-US" b="1" dirty="0"/>
              <a:t>Implication:</a:t>
            </a:r>
            <a:r>
              <a:rPr lang="en-US" dirty="0"/>
              <a:t> Add </a:t>
            </a:r>
            <a:r>
              <a:rPr lang="en-US" b="1" dirty="0"/>
              <a:t>hour-specific</a:t>
            </a:r>
            <a:r>
              <a:rPr lang="en-US" dirty="0"/>
              <a:t> features or tune peaks; not random noise.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Live Forecast — Web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5303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</a:defRPr>
            </a:pPr>
            <a:r>
              <a:t>FastAPI · ML in the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C9A7"/>
                </a:solidFill>
              </a:defRPr>
            </a:pPr>
            <a:r>
              <a:t>G05 · MEE344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EPİAŞ STLF · Decision Tree + AdaBoost</a:t>
            </a:r>
          </a:p>
        </p:txBody>
      </p:sp>
      <p:pic>
        <p:nvPicPr>
          <p:cNvPr id="9" name="Picture 8" descr="qr_liv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635" y="941832"/>
            <a:ext cx="4010424" cy="40104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3504" y="4754290"/>
            <a:ext cx="5074920" cy="658368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" y="4911149"/>
            <a:ext cx="4855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 can scan the QR code to experience the live site for yourself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2193" y="4751242"/>
            <a:ext cx="5074920" cy="658368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8367" y="4911149"/>
            <a:ext cx="48554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https://github.com/ahmetbtopcu/mee344-g05-stlf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377440"/>
            <a:ext cx="114235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tr-TR" dirty="0" err="1"/>
              <a:t>Thank</a:t>
            </a:r>
            <a:r>
              <a:rPr lang="tr-TR" dirty="0"/>
              <a:t> </a:t>
            </a:r>
            <a:r>
              <a:rPr lang="tr-TR" dirty="0" err="1"/>
              <a:t>you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3291840"/>
            <a:ext cx="11423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C9A7"/>
                </a:solidFill>
              </a:defRPr>
            </a:pPr>
            <a:r>
              <a:rPr lang="en-US" dirty="0"/>
              <a:t>Do you have any questions?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84048" y="4114800"/>
            <a:ext cx="1142359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BDF8"/>
                </a:solidFill>
              </a:defRPr>
            </a:pPr>
            <a:r>
              <a:t>Berhan Kaya</a:t>
            </a:r>
            <a:br/>
            <a:r>
              <a:t>Ahmet Bayram Topçu</a:t>
            </a:r>
            <a:br/>
            <a:r>
              <a:t>Yusuf Duman</a:t>
            </a:r>
            <a:br/>
            <a:r>
              <a:t>Furkan Efe Demirbel</a:t>
            </a:r>
            <a:br/>
            <a:r>
              <a:t>Tekgül Eroğlu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5669280"/>
            <a:ext cx="114235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rPr dirty="0"/>
              <a:t>github.com · mee344-g05-stlf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1651</Words>
  <Application>Microsoft Office PowerPoint</Application>
  <PresentationFormat>Geniş ekran</PresentationFormat>
  <Paragraphs>216</Paragraphs>
  <Slides>18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Segoe WPC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AHMET BAYRAM TOPCU</cp:lastModifiedBy>
  <cp:revision>3</cp:revision>
  <dcterms:created xsi:type="dcterms:W3CDTF">2013-01-27T09:14:16Z</dcterms:created>
  <dcterms:modified xsi:type="dcterms:W3CDTF">2026-05-23T12:29:55Z</dcterms:modified>
  <cp:category/>
</cp:coreProperties>
</file>